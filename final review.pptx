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6" r:id="rId1"/>
  </p:sldMasterIdLst>
  <p:sldIdLst>
    <p:sldId id="256" r:id="rId2"/>
    <p:sldId id="257" r:id="rId3"/>
    <p:sldId id="258" r:id="rId4"/>
    <p:sldId id="301" r:id="rId5"/>
    <p:sldId id="259" r:id="rId6"/>
    <p:sldId id="260" r:id="rId7"/>
    <p:sldId id="261" r:id="rId8"/>
    <p:sldId id="262" r:id="rId9"/>
    <p:sldId id="267" r:id="rId10"/>
    <p:sldId id="269" r:id="rId11"/>
    <p:sldId id="270" r:id="rId12"/>
    <p:sldId id="297" r:id="rId13"/>
    <p:sldId id="292" r:id="rId14"/>
    <p:sldId id="293" r:id="rId15"/>
    <p:sldId id="294" r:id="rId16"/>
    <p:sldId id="289" r:id="rId17"/>
    <p:sldId id="288" r:id="rId18"/>
    <p:sldId id="287" r:id="rId19"/>
    <p:sldId id="290" r:id="rId20"/>
    <p:sldId id="263" r:id="rId21"/>
    <p:sldId id="265" r:id="rId22"/>
    <p:sldId id="295" r:id="rId23"/>
    <p:sldId id="296" r:id="rId24"/>
    <p:sldId id="298" r:id="rId25"/>
    <p:sldId id="299" r:id="rId26"/>
    <p:sldId id="300" r:id="rId27"/>
    <p:sldId id="266"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E75B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DEDB84-9558-4858-9944-E41EB370E92D}" v="32" dt="2026-04-24T16:18:22.466"/>
    <p1510:client id="{AAEA8DF0-00A3-4E23-9080-B3FB2851986F}" v="135" dt="2026-04-24T18:12:15.00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NKATA KALYANI YERUVA" userId="fc533fa0401c6d3f" providerId="LiveId" clId="{00B3C8C5-5BF9-406C-8EFA-59D739C73493}"/>
    <pc:docChg chg="addSld modSld">
      <pc:chgData name="VENKATA KALYANI YERUVA" userId="fc533fa0401c6d3f" providerId="LiveId" clId="{00B3C8C5-5BF9-406C-8EFA-59D739C73493}" dt="2026-04-24T18:12:15.002" v="134" actId="1036"/>
      <pc:docMkLst>
        <pc:docMk/>
      </pc:docMkLst>
      <pc:sldChg chg="modSp mod">
        <pc:chgData name="VENKATA KALYANI YERUVA" userId="fc533fa0401c6d3f" providerId="LiveId" clId="{00B3C8C5-5BF9-406C-8EFA-59D739C73493}" dt="2026-04-24T17:51:24.931" v="130" actId="20577"/>
        <pc:sldMkLst>
          <pc:docMk/>
          <pc:sldMk cId="907286807" sldId="258"/>
        </pc:sldMkLst>
        <pc:spChg chg="mod">
          <ac:chgData name="VENKATA KALYANI YERUVA" userId="fc533fa0401c6d3f" providerId="LiveId" clId="{00B3C8C5-5BF9-406C-8EFA-59D739C73493}" dt="2026-04-24T17:51:24.931" v="130" actId="20577"/>
          <ac:spMkLst>
            <pc:docMk/>
            <pc:sldMk cId="907286807" sldId="258"/>
            <ac:spMk id="3" creationId="{00000000-0000-0000-0000-000000000000}"/>
          </ac:spMkLst>
        </pc:spChg>
      </pc:sldChg>
      <pc:sldChg chg="modSp mod">
        <pc:chgData name="VENKATA KALYANI YERUVA" userId="fc533fa0401c6d3f" providerId="LiveId" clId="{00B3C8C5-5BF9-406C-8EFA-59D739C73493}" dt="2026-04-24T18:12:15.002" v="134" actId="1036"/>
        <pc:sldMkLst>
          <pc:docMk/>
          <pc:sldMk cId="756091023" sldId="261"/>
        </pc:sldMkLst>
        <pc:graphicFrameChg chg="mod modGraphic">
          <ac:chgData name="VENKATA KALYANI YERUVA" userId="fc533fa0401c6d3f" providerId="LiveId" clId="{00B3C8C5-5BF9-406C-8EFA-59D739C73493}" dt="2026-04-24T18:12:15.002" v="134" actId="1036"/>
          <ac:graphicFrameMkLst>
            <pc:docMk/>
            <pc:sldMk cId="756091023" sldId="261"/>
            <ac:graphicFrameMk id="8" creationId="{00000000-0000-0000-0000-000000000000}"/>
          </ac:graphicFrameMkLst>
        </pc:graphicFrameChg>
      </pc:sldChg>
      <pc:sldChg chg="modSp mod">
        <pc:chgData name="VENKATA KALYANI YERUVA" userId="fc533fa0401c6d3f" providerId="LiveId" clId="{00B3C8C5-5BF9-406C-8EFA-59D739C73493}" dt="2026-04-24T17:09:43.846" v="94" actId="20577"/>
        <pc:sldMkLst>
          <pc:docMk/>
          <pc:sldMk cId="3738074249" sldId="263"/>
        </pc:sldMkLst>
        <pc:spChg chg="mod">
          <ac:chgData name="VENKATA KALYANI YERUVA" userId="fc533fa0401c6d3f" providerId="LiveId" clId="{00B3C8C5-5BF9-406C-8EFA-59D739C73493}" dt="2026-04-24T17:09:43.846" v="94" actId="20577"/>
          <ac:spMkLst>
            <pc:docMk/>
            <pc:sldMk cId="3738074249" sldId="263"/>
            <ac:spMk id="2" creationId="{00000000-0000-0000-0000-000000000000}"/>
          </ac:spMkLst>
        </pc:spChg>
      </pc:sldChg>
      <pc:sldChg chg="modSp mod">
        <pc:chgData name="VENKATA KALYANI YERUVA" userId="fc533fa0401c6d3f" providerId="LiveId" clId="{00B3C8C5-5BF9-406C-8EFA-59D739C73493}" dt="2026-04-24T17:09:27.007" v="75" actId="20577"/>
        <pc:sldMkLst>
          <pc:docMk/>
          <pc:sldMk cId="181858669" sldId="289"/>
        </pc:sldMkLst>
        <pc:spChg chg="mod">
          <ac:chgData name="VENKATA KALYANI YERUVA" userId="fc533fa0401c6d3f" providerId="LiveId" clId="{00B3C8C5-5BF9-406C-8EFA-59D739C73493}" dt="2026-04-24T17:09:27.007" v="75" actId="20577"/>
          <ac:spMkLst>
            <pc:docMk/>
            <pc:sldMk cId="181858669" sldId="289"/>
            <ac:spMk id="2" creationId="{40FD543C-FF1B-2035-11E1-C585D98BDAD5}"/>
          </ac:spMkLst>
        </pc:spChg>
      </pc:sldChg>
      <pc:sldChg chg="modSp mod">
        <pc:chgData name="VENKATA KALYANI YERUVA" userId="fc533fa0401c6d3f" providerId="LiveId" clId="{00B3C8C5-5BF9-406C-8EFA-59D739C73493}" dt="2026-04-24T17:09:01.291" v="43" actId="255"/>
        <pc:sldMkLst>
          <pc:docMk/>
          <pc:sldMk cId="120946220" sldId="292"/>
        </pc:sldMkLst>
        <pc:spChg chg="mod">
          <ac:chgData name="VENKATA KALYANI YERUVA" userId="fc533fa0401c6d3f" providerId="LiveId" clId="{00B3C8C5-5BF9-406C-8EFA-59D739C73493}" dt="2026-04-24T17:09:01.291" v="43" actId="255"/>
          <ac:spMkLst>
            <pc:docMk/>
            <pc:sldMk cId="120946220" sldId="292"/>
            <ac:spMk id="3" creationId="{4F4D1A53-B2EE-7A31-F93A-1E7120E4F49E}"/>
          </ac:spMkLst>
        </pc:spChg>
      </pc:sldChg>
      <pc:sldChg chg="modSp mod">
        <pc:chgData name="VENKATA KALYANI YERUVA" userId="fc533fa0401c6d3f" providerId="LiveId" clId="{00B3C8C5-5BF9-406C-8EFA-59D739C73493}" dt="2026-04-24T17:08:07.138" v="41" actId="20577"/>
        <pc:sldMkLst>
          <pc:docMk/>
          <pc:sldMk cId="297804793" sldId="297"/>
        </pc:sldMkLst>
        <pc:spChg chg="mod">
          <ac:chgData name="VENKATA KALYANI YERUVA" userId="fc533fa0401c6d3f" providerId="LiveId" clId="{00B3C8C5-5BF9-406C-8EFA-59D739C73493}" dt="2026-04-24T17:08:07.138" v="41" actId="20577"/>
          <ac:spMkLst>
            <pc:docMk/>
            <pc:sldMk cId="297804793" sldId="297"/>
            <ac:spMk id="2" creationId="{85322BBB-AD33-F2D4-49BE-9A9132CD92CA}"/>
          </ac:spMkLst>
        </pc:spChg>
      </pc:sldChg>
      <pc:sldChg chg="modSp mod">
        <pc:chgData name="VENKATA KALYANI YERUVA" userId="fc533fa0401c6d3f" providerId="LiveId" clId="{00B3C8C5-5BF9-406C-8EFA-59D739C73493}" dt="2026-04-24T17:10:04.359" v="124" actId="20577"/>
        <pc:sldMkLst>
          <pc:docMk/>
          <pc:sldMk cId="768179938" sldId="298"/>
        </pc:sldMkLst>
        <pc:spChg chg="mod">
          <ac:chgData name="VENKATA KALYANI YERUVA" userId="fc533fa0401c6d3f" providerId="LiveId" clId="{00B3C8C5-5BF9-406C-8EFA-59D739C73493}" dt="2026-04-24T17:10:04.359" v="124" actId="20577"/>
          <ac:spMkLst>
            <pc:docMk/>
            <pc:sldMk cId="768179938" sldId="298"/>
            <ac:spMk id="2" creationId="{6BEAE35C-C39B-3CFB-75AD-CEECDC999A1B}"/>
          </ac:spMkLst>
        </pc:spChg>
      </pc:sldChg>
      <pc:sldChg chg="addSp modSp new mod">
        <pc:chgData name="VENKATA KALYANI YERUVA" userId="fc533fa0401c6d3f" providerId="LiveId" clId="{00B3C8C5-5BF9-406C-8EFA-59D739C73493}" dt="2026-04-24T17:07:20.057" v="8" actId="255"/>
        <pc:sldMkLst>
          <pc:docMk/>
          <pc:sldMk cId="621630270" sldId="301"/>
        </pc:sldMkLst>
        <pc:spChg chg="add mod">
          <ac:chgData name="VENKATA KALYANI YERUVA" userId="fc533fa0401c6d3f" providerId="LiveId" clId="{00B3C8C5-5BF9-406C-8EFA-59D739C73493}" dt="2026-04-24T17:07:20.057" v="8" actId="255"/>
          <ac:spMkLst>
            <pc:docMk/>
            <pc:sldMk cId="621630270" sldId="301"/>
            <ac:spMk id="2" creationId="{20A27716-C618-0C97-76FB-4E68A310D909}"/>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D9F75404-5D7B-4E89-B751-27A5A5E7C0EC}" type="datetimeFigureOut">
              <a:rPr lang="en-IN" smtClean="0"/>
              <a:t>24-04-2026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DB67748-4D3E-41CE-A3D8-9822CD92C415}" type="slidenum">
              <a:rPr lang="en-IN" smtClean="0"/>
              <a:t>‹#›</a:t>
            </a:fld>
            <a:endParaRPr lang="en-IN"/>
          </a:p>
        </p:txBody>
      </p:sp>
    </p:spTree>
    <p:extLst>
      <p:ext uri="{BB962C8B-B14F-4D97-AF65-F5344CB8AC3E}">
        <p14:creationId xmlns:p14="http://schemas.microsoft.com/office/powerpoint/2010/main" val="3127486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9F75404-5D7B-4E89-B751-27A5A5E7C0EC}" type="datetimeFigureOut">
              <a:rPr lang="en-IN" smtClean="0"/>
              <a:t>24-04-2026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DB67748-4D3E-41CE-A3D8-9822CD92C415}" type="slidenum">
              <a:rPr lang="en-IN" smtClean="0"/>
              <a:t>‹#›</a:t>
            </a:fld>
            <a:endParaRPr lang="en-IN"/>
          </a:p>
        </p:txBody>
      </p:sp>
    </p:spTree>
    <p:extLst>
      <p:ext uri="{BB962C8B-B14F-4D97-AF65-F5344CB8AC3E}">
        <p14:creationId xmlns:p14="http://schemas.microsoft.com/office/powerpoint/2010/main" val="42782007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9F75404-5D7B-4E89-B751-27A5A5E7C0EC}" type="datetimeFigureOut">
              <a:rPr lang="en-IN" smtClean="0"/>
              <a:t>24-04-2026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DB67748-4D3E-41CE-A3D8-9822CD92C415}" type="slidenum">
              <a:rPr lang="en-IN" smtClean="0"/>
              <a:t>‹#›</a:t>
            </a:fld>
            <a:endParaRPr lang="en-IN"/>
          </a:p>
        </p:txBody>
      </p:sp>
    </p:spTree>
    <p:extLst>
      <p:ext uri="{BB962C8B-B14F-4D97-AF65-F5344CB8AC3E}">
        <p14:creationId xmlns:p14="http://schemas.microsoft.com/office/powerpoint/2010/main" val="37678623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D9F75404-5D7B-4E89-B751-27A5A5E7C0EC}" type="datetimeFigureOut">
              <a:rPr lang="en-IN" smtClean="0"/>
              <a:t>24-04-2026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DB67748-4D3E-41CE-A3D8-9822CD92C415}" type="slidenum">
              <a:rPr lang="en-IN" smtClean="0"/>
              <a:t>‹#›</a:t>
            </a:fld>
            <a:endParaRPr lang="en-IN"/>
          </a:p>
        </p:txBody>
      </p:sp>
    </p:spTree>
    <p:extLst>
      <p:ext uri="{BB962C8B-B14F-4D97-AF65-F5344CB8AC3E}">
        <p14:creationId xmlns:p14="http://schemas.microsoft.com/office/powerpoint/2010/main" val="27466466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D9F75404-5D7B-4E89-B751-27A5A5E7C0EC}" type="datetimeFigureOut">
              <a:rPr lang="en-IN" smtClean="0"/>
              <a:t>24-04-2026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DB67748-4D3E-41CE-A3D8-9822CD92C415}" type="slidenum">
              <a:rPr lang="en-IN" smtClean="0"/>
              <a:t>‹#›</a:t>
            </a:fld>
            <a:endParaRPr lang="en-IN"/>
          </a:p>
        </p:txBody>
      </p:sp>
    </p:spTree>
    <p:extLst>
      <p:ext uri="{BB962C8B-B14F-4D97-AF65-F5344CB8AC3E}">
        <p14:creationId xmlns:p14="http://schemas.microsoft.com/office/powerpoint/2010/main" val="12131693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D9F75404-5D7B-4E89-B751-27A5A5E7C0EC}" type="datetimeFigureOut">
              <a:rPr lang="en-IN" smtClean="0"/>
              <a:t>24-04-2026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DB67748-4D3E-41CE-A3D8-9822CD92C415}" type="slidenum">
              <a:rPr lang="en-IN" smtClean="0"/>
              <a:t>‹#›</a:t>
            </a:fld>
            <a:endParaRPr lang="en-IN"/>
          </a:p>
        </p:txBody>
      </p:sp>
    </p:spTree>
    <p:extLst>
      <p:ext uri="{BB962C8B-B14F-4D97-AF65-F5344CB8AC3E}">
        <p14:creationId xmlns:p14="http://schemas.microsoft.com/office/powerpoint/2010/main" val="8035005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F75404-5D7B-4E89-B751-27A5A5E7C0EC}" type="datetimeFigureOut">
              <a:rPr lang="en-IN" smtClean="0"/>
              <a:t>24-04-2026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DB67748-4D3E-41CE-A3D8-9822CD92C415}" type="slidenum">
              <a:rPr lang="en-IN" smtClean="0"/>
              <a:t>‹#›</a:t>
            </a:fld>
            <a:endParaRPr lang="en-IN"/>
          </a:p>
        </p:txBody>
      </p:sp>
    </p:spTree>
    <p:extLst>
      <p:ext uri="{BB962C8B-B14F-4D97-AF65-F5344CB8AC3E}">
        <p14:creationId xmlns:p14="http://schemas.microsoft.com/office/powerpoint/2010/main" val="26377330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9F75404-5D7B-4E89-B751-27A5A5E7C0EC}" type="datetimeFigureOut">
              <a:rPr lang="en-IN" smtClean="0"/>
              <a:t>24-04-2026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DB67748-4D3E-41CE-A3D8-9822CD92C415}" type="slidenum">
              <a:rPr lang="en-IN" smtClean="0"/>
              <a:t>‹#›</a:t>
            </a:fld>
            <a:endParaRPr lang="en-IN"/>
          </a:p>
        </p:txBody>
      </p:sp>
    </p:spTree>
    <p:extLst>
      <p:ext uri="{BB962C8B-B14F-4D97-AF65-F5344CB8AC3E}">
        <p14:creationId xmlns:p14="http://schemas.microsoft.com/office/powerpoint/2010/main" val="10577422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9F75404-5D7B-4E89-B751-27A5A5E7C0EC}" type="datetimeFigureOut">
              <a:rPr lang="en-IN" smtClean="0"/>
              <a:t>24-04-2026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DB67748-4D3E-41CE-A3D8-9822CD92C415}" type="slidenum">
              <a:rPr lang="en-IN" smtClean="0"/>
              <a:t>‹#›</a:t>
            </a:fld>
            <a:endParaRPr lang="en-IN"/>
          </a:p>
        </p:txBody>
      </p:sp>
    </p:spTree>
    <p:extLst>
      <p:ext uri="{BB962C8B-B14F-4D97-AF65-F5344CB8AC3E}">
        <p14:creationId xmlns:p14="http://schemas.microsoft.com/office/powerpoint/2010/main" val="17044668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9F75404-5D7B-4E89-B751-27A5A5E7C0EC}" type="datetimeFigureOut">
              <a:rPr lang="en-IN" smtClean="0"/>
              <a:t>24-04-2026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DB67748-4D3E-41CE-A3D8-9822CD92C415}" type="slidenum">
              <a:rPr lang="en-IN" smtClean="0"/>
              <a:t>‹#›</a:t>
            </a:fld>
            <a:endParaRPr lang="en-IN"/>
          </a:p>
        </p:txBody>
      </p:sp>
    </p:spTree>
    <p:extLst>
      <p:ext uri="{BB962C8B-B14F-4D97-AF65-F5344CB8AC3E}">
        <p14:creationId xmlns:p14="http://schemas.microsoft.com/office/powerpoint/2010/main" val="863065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9F75404-5D7B-4E89-B751-27A5A5E7C0EC}" type="datetimeFigureOut">
              <a:rPr lang="en-IN" smtClean="0"/>
              <a:t>24-04-2026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DB67748-4D3E-41CE-A3D8-9822CD92C415}" type="slidenum">
              <a:rPr lang="en-IN" smtClean="0"/>
              <a:t>‹#›</a:t>
            </a:fld>
            <a:endParaRPr lang="en-IN"/>
          </a:p>
        </p:txBody>
      </p:sp>
    </p:spTree>
    <p:extLst>
      <p:ext uri="{BB962C8B-B14F-4D97-AF65-F5344CB8AC3E}">
        <p14:creationId xmlns:p14="http://schemas.microsoft.com/office/powerpoint/2010/main" val="28146924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F75404-5D7B-4E89-B751-27A5A5E7C0EC}" type="datetimeFigureOut">
              <a:rPr lang="en-IN" smtClean="0"/>
              <a:t>24-04-2026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B67748-4D3E-41CE-A3D8-9822CD92C415}" type="slidenum">
              <a:rPr lang="en-IN" smtClean="0"/>
              <a:t>‹#›</a:t>
            </a:fld>
            <a:endParaRPr lang="en-IN"/>
          </a:p>
        </p:txBody>
      </p:sp>
    </p:spTree>
    <p:extLst>
      <p:ext uri="{BB962C8B-B14F-4D97-AF65-F5344CB8AC3E}">
        <p14:creationId xmlns:p14="http://schemas.microsoft.com/office/powerpoint/2010/main" val="3568273868"/>
      </p:ext>
    </p:extLst>
  </p:cSld>
  <p:clrMap bg1="lt1" tx1="dk1" bg2="lt2" tx2="dk2" accent1="accent1" accent2="accent2" accent3="accent3" accent4="accent4" accent5="accent5" accent6="accent6" hlink="hlink" folHlink="folHlink"/>
  <p:sldLayoutIdLst>
    <p:sldLayoutId id="2147483787" r:id="rId1"/>
    <p:sldLayoutId id="2147483788" r:id="rId2"/>
    <p:sldLayoutId id="2147483789" r:id="rId3"/>
    <p:sldLayoutId id="2147483790" r:id="rId4"/>
    <p:sldLayoutId id="2147483791" r:id="rId5"/>
    <p:sldLayoutId id="2147483792" r:id="rId6"/>
    <p:sldLayoutId id="2147483793" r:id="rId7"/>
    <p:sldLayoutId id="2147483794" r:id="rId8"/>
    <p:sldLayoutId id="2147483795" r:id="rId9"/>
    <p:sldLayoutId id="2147483796" r:id="rId10"/>
    <p:sldLayoutId id="214748379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50605" y="480292"/>
            <a:ext cx="11036595" cy="2927926"/>
          </a:xfrm>
        </p:spPr>
        <p:txBody>
          <a:bodyPr>
            <a:normAutofit/>
          </a:bodyPr>
          <a:lstStyle/>
          <a:p>
            <a:r>
              <a:rPr lang="en-US" sz="2400" b="1">
                <a:solidFill>
                  <a:schemeClr val="bg2">
                    <a:lumMod val="10000"/>
                  </a:schemeClr>
                </a:solidFill>
                <a:latin typeface="Times New Roman" panose="02020603050405020304" pitchFamily="18" charset="0"/>
                <a:cs typeface="Times New Roman" panose="02020603050405020304" pitchFamily="18" charset="0"/>
              </a:rPr>
              <a:t>A Novel </a:t>
            </a:r>
            <a:r>
              <a:rPr lang="en-US" sz="2400" b="1" err="1">
                <a:solidFill>
                  <a:schemeClr val="bg2">
                    <a:lumMod val="10000"/>
                  </a:schemeClr>
                </a:solidFill>
                <a:latin typeface="Times New Roman" panose="02020603050405020304" pitchFamily="18" charset="0"/>
                <a:cs typeface="Times New Roman" panose="02020603050405020304" pitchFamily="18" charset="0"/>
              </a:rPr>
              <a:t>AttenTabTCN</a:t>
            </a:r>
            <a:r>
              <a:rPr lang="en-US" sz="2400" b="1">
                <a:solidFill>
                  <a:schemeClr val="bg2">
                    <a:lumMod val="10000"/>
                  </a:schemeClr>
                </a:solidFill>
                <a:latin typeface="Times New Roman" panose="02020603050405020304" pitchFamily="18" charset="0"/>
                <a:cs typeface="Times New Roman" panose="02020603050405020304" pitchFamily="18" charset="0"/>
              </a:rPr>
              <a:t>-Fuse Model for Predicting Neurological Deterioration in</a:t>
            </a:r>
            <a:br>
              <a:rPr lang="en-US" sz="2400" b="1">
                <a:solidFill>
                  <a:schemeClr val="bg2">
                    <a:lumMod val="10000"/>
                  </a:schemeClr>
                </a:solidFill>
                <a:latin typeface="Times New Roman" panose="02020603050405020304" pitchFamily="18" charset="0"/>
                <a:cs typeface="Times New Roman" panose="02020603050405020304" pitchFamily="18" charset="0"/>
              </a:rPr>
            </a:br>
            <a:r>
              <a:rPr lang="en-US" sz="2400" b="1">
                <a:solidFill>
                  <a:schemeClr val="bg2">
                    <a:lumMod val="10000"/>
                  </a:schemeClr>
                </a:solidFill>
                <a:latin typeface="Times New Roman" panose="02020603050405020304" pitchFamily="18" charset="0"/>
                <a:cs typeface="Times New Roman" panose="02020603050405020304" pitchFamily="18" charset="0"/>
              </a:rPr>
              <a:t>Wilson’s Disease Using HashRFE Feature Selection and </a:t>
            </a:r>
            <a:r>
              <a:rPr lang="en-US" sz="2400" b="1" err="1">
                <a:solidFill>
                  <a:schemeClr val="bg2">
                    <a:lumMod val="10000"/>
                  </a:schemeClr>
                </a:solidFill>
                <a:latin typeface="Times New Roman" panose="02020603050405020304" pitchFamily="18" charset="0"/>
                <a:cs typeface="Times New Roman" panose="02020603050405020304" pitchFamily="18" charset="0"/>
              </a:rPr>
              <a:t>XAIShEx</a:t>
            </a:r>
            <a:r>
              <a:rPr lang="en-US" sz="2400" b="1">
                <a:solidFill>
                  <a:schemeClr val="bg2">
                    <a:lumMod val="10000"/>
                  </a:schemeClr>
                </a:solidFill>
                <a:latin typeface="Times New Roman" panose="02020603050405020304" pitchFamily="18" charset="0"/>
                <a:cs typeface="Times New Roman" panose="02020603050405020304" pitchFamily="18" charset="0"/>
              </a:rPr>
              <a:t> Explainability</a:t>
            </a:r>
            <a:endParaRPr lang="en-IN" sz="2400" b="1">
              <a:solidFill>
                <a:schemeClr val="bg2">
                  <a:lumMod val="10000"/>
                </a:schemeClr>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523999" y="3583709"/>
            <a:ext cx="9587345" cy="2817091"/>
          </a:xfrm>
        </p:spPr>
        <p:txBody>
          <a:bodyPr>
            <a:normAutofit fontScale="70000" lnSpcReduction="20000"/>
          </a:bodyPr>
          <a:lstStyle/>
          <a:p>
            <a:r>
              <a:rPr lang="en-IN" sz="3400" b="1">
                <a:solidFill>
                  <a:schemeClr val="accent1">
                    <a:lumMod val="75000"/>
                  </a:schemeClr>
                </a:solidFill>
                <a:latin typeface="Times New Roman" panose="02020603050405020304" pitchFamily="18" charset="0"/>
                <a:cs typeface="Times New Roman" panose="02020603050405020304" pitchFamily="18" charset="0"/>
              </a:rPr>
              <a:t>Guide   </a:t>
            </a:r>
            <a:r>
              <a:rPr lang="en-IN" sz="4000" b="1">
                <a:solidFill>
                  <a:schemeClr val="accent1">
                    <a:lumMod val="75000"/>
                  </a:schemeClr>
                </a:solidFill>
                <a:latin typeface="Times New Roman" panose="02020603050405020304" pitchFamily="18" charset="0"/>
                <a:cs typeface="Times New Roman" panose="02020603050405020304" pitchFamily="18" charset="0"/>
              </a:rPr>
              <a:t>   </a:t>
            </a:r>
            <a:r>
              <a:rPr lang="en-IN" sz="4000" b="1">
                <a:latin typeface="Times New Roman" panose="02020603050405020304" pitchFamily="18" charset="0"/>
                <a:cs typeface="Times New Roman" panose="02020603050405020304" pitchFamily="18" charset="0"/>
              </a:rPr>
              <a:t>                                                    </a:t>
            </a:r>
            <a:r>
              <a:rPr lang="en-IN" sz="3400" b="1">
                <a:solidFill>
                  <a:schemeClr val="accent1">
                    <a:lumMod val="75000"/>
                  </a:schemeClr>
                </a:solidFill>
                <a:latin typeface="Times New Roman" panose="02020603050405020304" pitchFamily="18" charset="0"/>
                <a:cs typeface="Times New Roman" panose="02020603050405020304" pitchFamily="18" charset="0"/>
              </a:rPr>
              <a:t>Team Members</a:t>
            </a:r>
          </a:p>
          <a:p>
            <a:pPr algn="just"/>
            <a:r>
              <a:rPr lang="en-IN" sz="2600">
                <a:latin typeface="Times New Roman" panose="02020603050405020304" pitchFamily="18" charset="0"/>
                <a:cs typeface="Times New Roman" panose="02020603050405020304" pitchFamily="18" charset="0"/>
              </a:rPr>
              <a:t>         </a:t>
            </a:r>
            <a:r>
              <a:rPr lang="en-IN" sz="2600" err="1">
                <a:latin typeface="Times New Roman" panose="02020603050405020304" pitchFamily="18" charset="0"/>
                <a:cs typeface="Times New Roman" panose="02020603050405020304" pitchFamily="18" charset="0"/>
              </a:rPr>
              <a:t>Dr.V.Sreenivas</a:t>
            </a:r>
            <a:r>
              <a:rPr lang="en-IN" sz="2600">
                <a:latin typeface="Times New Roman" panose="02020603050405020304" pitchFamily="18" charset="0"/>
                <a:cs typeface="Times New Roman" panose="02020603050405020304" pitchFamily="18" charset="0"/>
              </a:rPr>
              <a:t>                                                                         </a:t>
            </a:r>
            <a:r>
              <a:rPr lang="en-IN" sz="2600" err="1">
                <a:latin typeface="Times New Roman" panose="02020603050405020304" pitchFamily="18" charset="0"/>
                <a:cs typeface="Times New Roman" panose="02020603050405020304" pitchFamily="18" charset="0"/>
              </a:rPr>
              <a:t>Y.V.Kalyani</a:t>
            </a:r>
            <a:r>
              <a:rPr lang="en-IN" sz="2600">
                <a:latin typeface="Times New Roman" panose="02020603050405020304" pitchFamily="18" charset="0"/>
                <a:cs typeface="Times New Roman" panose="02020603050405020304" pitchFamily="18" charset="0"/>
              </a:rPr>
              <a:t>            -  22X41A4464</a:t>
            </a:r>
          </a:p>
          <a:p>
            <a:pPr algn="just"/>
            <a:r>
              <a:rPr lang="en-IN" sz="2600">
                <a:latin typeface="Times New Roman" panose="02020603050405020304" pitchFamily="18" charset="0"/>
                <a:cs typeface="Times New Roman" panose="02020603050405020304" pitchFamily="18" charset="0"/>
              </a:rPr>
              <a:t>      Professor , CSD                                                                          </a:t>
            </a:r>
            <a:r>
              <a:rPr lang="en-IN" sz="2600" err="1">
                <a:latin typeface="Times New Roman" panose="02020603050405020304" pitchFamily="18" charset="0"/>
                <a:cs typeface="Times New Roman" panose="02020603050405020304" pitchFamily="18" charset="0"/>
              </a:rPr>
              <a:t>K.Visesh</a:t>
            </a:r>
            <a:r>
              <a:rPr lang="en-IN" sz="2600">
                <a:latin typeface="Times New Roman" panose="02020603050405020304" pitchFamily="18" charset="0"/>
                <a:cs typeface="Times New Roman" panose="02020603050405020304" pitchFamily="18" charset="0"/>
              </a:rPr>
              <a:t> Mani       -  22X41A4419</a:t>
            </a:r>
          </a:p>
          <a:p>
            <a:pPr algn="just"/>
            <a:r>
              <a:rPr lang="en-IN" sz="2600">
                <a:latin typeface="Times New Roman" panose="02020603050405020304" pitchFamily="18" charset="0"/>
                <a:cs typeface="Times New Roman" panose="02020603050405020304" pitchFamily="18" charset="0"/>
              </a:rPr>
              <a:t>                                                                                                          </a:t>
            </a:r>
            <a:r>
              <a:rPr lang="en-IN" err="1">
                <a:latin typeface="Times New Roman" panose="02020603050405020304" pitchFamily="18" charset="0"/>
                <a:cs typeface="Times New Roman" panose="02020603050405020304" pitchFamily="18" charset="0"/>
              </a:rPr>
              <a:t>K.Mani</a:t>
            </a:r>
            <a:r>
              <a:rPr lang="en-IN">
                <a:latin typeface="Times New Roman" panose="02020603050405020304" pitchFamily="18" charset="0"/>
                <a:cs typeface="Times New Roman" panose="02020603050405020304" pitchFamily="18" charset="0"/>
              </a:rPr>
              <a:t> Venkat         -  22X41A4423</a:t>
            </a:r>
          </a:p>
          <a:p>
            <a:pPr algn="just"/>
            <a:r>
              <a:rPr lang="en-IN">
                <a:latin typeface="Times New Roman" panose="02020603050405020304" pitchFamily="18" charset="0"/>
                <a:cs typeface="Times New Roman" panose="02020603050405020304" pitchFamily="18" charset="0"/>
              </a:rPr>
              <a:t>                                                                                                                </a:t>
            </a:r>
            <a:r>
              <a:rPr lang="en-IN" err="1">
                <a:latin typeface="Times New Roman" panose="02020603050405020304" pitchFamily="18" charset="0"/>
                <a:cs typeface="Times New Roman" panose="02020603050405020304" pitchFamily="18" charset="0"/>
              </a:rPr>
              <a:t>Y.Hemanth</a:t>
            </a:r>
            <a:r>
              <a:rPr lang="en-IN">
                <a:latin typeface="Times New Roman" panose="02020603050405020304" pitchFamily="18" charset="0"/>
                <a:cs typeface="Times New Roman" panose="02020603050405020304" pitchFamily="18" charset="0"/>
              </a:rPr>
              <a:t> Kumar   -  22X41A4463</a:t>
            </a:r>
          </a:p>
          <a:p>
            <a:pPr algn="just"/>
            <a:r>
              <a:rPr lang="en-IN">
                <a:latin typeface="Times New Roman" panose="02020603050405020304" pitchFamily="18" charset="0"/>
                <a:cs typeface="Times New Roman" panose="02020603050405020304" pitchFamily="18" charset="0"/>
              </a:rPr>
              <a:t>                                                                                                                </a:t>
            </a:r>
            <a:r>
              <a:rPr lang="en-IN" err="1">
                <a:latin typeface="Times New Roman" panose="02020603050405020304" pitchFamily="18" charset="0"/>
                <a:cs typeface="Times New Roman" panose="02020603050405020304" pitchFamily="18" charset="0"/>
              </a:rPr>
              <a:t>K.Akshay</a:t>
            </a:r>
            <a:r>
              <a:rPr lang="en-IN">
                <a:latin typeface="Times New Roman" panose="02020603050405020304" pitchFamily="18" charset="0"/>
                <a:cs typeface="Times New Roman" panose="02020603050405020304" pitchFamily="18" charset="0"/>
              </a:rPr>
              <a:t> Kumar     -  22X41A4420</a:t>
            </a:r>
          </a:p>
          <a:p>
            <a:pPr algn="just"/>
            <a:r>
              <a:rPr lang="en-IN">
                <a:latin typeface="Times New Roman" panose="02020603050405020304" pitchFamily="18" charset="0"/>
                <a:cs typeface="Times New Roman" panose="02020603050405020304" pitchFamily="18" charset="0"/>
              </a:rPr>
              <a:t>                                                                                                                </a:t>
            </a:r>
            <a:r>
              <a:rPr lang="en-IN" err="1">
                <a:latin typeface="Times New Roman" panose="02020603050405020304" pitchFamily="18" charset="0"/>
                <a:cs typeface="Times New Roman" panose="02020603050405020304" pitchFamily="18" charset="0"/>
              </a:rPr>
              <a:t>S.Chiru</a:t>
            </a:r>
            <a:r>
              <a:rPr lang="en-IN">
                <a:latin typeface="Times New Roman" panose="02020603050405020304" pitchFamily="18" charset="0"/>
                <a:cs typeface="Times New Roman" panose="02020603050405020304" pitchFamily="18" charset="0"/>
              </a:rPr>
              <a:t> Charan         -  22X41A4448</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83043" y="478482"/>
            <a:ext cx="2019300" cy="1409700"/>
          </a:xfrm>
          <a:prstGeom prst="rect">
            <a:avLst/>
          </a:prstGeom>
        </p:spPr>
      </p:pic>
      <p:sp>
        <p:nvSpPr>
          <p:cNvPr id="4" name="TextBox 3">
            <a:extLst>
              <a:ext uri="{FF2B5EF4-FFF2-40B4-BE49-F238E27FC236}">
                <a16:creationId xmlns:a16="http://schemas.microsoft.com/office/drawing/2014/main" id="{500A1EB0-75FE-7467-660D-3C220DCB17DE}"/>
              </a:ext>
            </a:extLst>
          </p:cNvPr>
          <p:cNvSpPr txBox="1"/>
          <p:nvPr/>
        </p:nvSpPr>
        <p:spPr>
          <a:xfrm>
            <a:off x="9207796" y="818847"/>
            <a:ext cx="190326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latin typeface="Times New Roman" panose="02020603050405020304" pitchFamily="18" charset="0"/>
                <a:ea typeface="Calibri"/>
                <a:cs typeface="Times New Roman" panose="02020603050405020304" pitchFamily="18" charset="0"/>
              </a:rPr>
              <a:t>Final Review </a:t>
            </a:r>
          </a:p>
        </p:txBody>
      </p:sp>
      <p:sp>
        <p:nvSpPr>
          <p:cNvPr id="6" name="TextBox 5">
            <a:extLst>
              <a:ext uri="{FF2B5EF4-FFF2-40B4-BE49-F238E27FC236}">
                <a16:creationId xmlns:a16="http://schemas.microsoft.com/office/drawing/2014/main" id="{9EBF4323-9C51-7F5A-7EF7-85280589EB83}"/>
              </a:ext>
            </a:extLst>
          </p:cNvPr>
          <p:cNvSpPr txBox="1"/>
          <p:nvPr/>
        </p:nvSpPr>
        <p:spPr>
          <a:xfrm>
            <a:off x="2063189" y="973782"/>
            <a:ext cx="1530615" cy="400110"/>
          </a:xfrm>
          <a:prstGeom prst="rect">
            <a:avLst/>
          </a:prstGeom>
          <a:noFill/>
        </p:spPr>
        <p:txBody>
          <a:bodyPr wrap="square" rtlCol="0">
            <a:spAutoFit/>
          </a:bodyPr>
          <a:lstStyle/>
          <a:p>
            <a:r>
              <a:rPr lang="en-US" sz="2000">
                <a:latin typeface="Times New Roman" panose="02020603050405020304" pitchFamily="18" charset="0"/>
                <a:cs typeface="Times New Roman" panose="02020603050405020304" pitchFamily="18" charset="0"/>
              </a:rPr>
              <a:t>Batch-6</a:t>
            </a:r>
            <a:endParaRPr lang="en-IN" sz="20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254169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47649"/>
          </a:xfrm>
        </p:spPr>
        <p:txBody>
          <a:bodyPr/>
          <a:lstStyle/>
          <a:p>
            <a:r>
              <a:rPr lang="en-IN" b="1">
                <a:solidFill>
                  <a:schemeClr val="accent1">
                    <a:lumMod val="75000"/>
                  </a:schemeClr>
                </a:solidFill>
                <a:latin typeface="Times New Roman" panose="02020603050405020304" pitchFamily="18" charset="0"/>
                <a:cs typeface="Times New Roman" panose="02020603050405020304" pitchFamily="18" charset="0"/>
              </a:rPr>
              <a:t>Contents</a:t>
            </a:r>
          </a:p>
        </p:txBody>
      </p:sp>
      <p:graphicFrame>
        <p:nvGraphicFramePr>
          <p:cNvPr id="5" name="Content Placeholder 4">
            <a:extLst>
              <a:ext uri="{FF2B5EF4-FFF2-40B4-BE49-F238E27FC236}">
                <a16:creationId xmlns:a16="http://schemas.microsoft.com/office/drawing/2014/main" id="{30D975C9-D9C0-1760-60AA-B08C063FEAC7}"/>
              </a:ext>
            </a:extLst>
          </p:cNvPr>
          <p:cNvGraphicFramePr>
            <a:graphicFrameLocks noGrp="1"/>
          </p:cNvGraphicFramePr>
          <p:nvPr>
            <p:ph idx="1"/>
            <p:extLst>
              <p:ext uri="{D42A27DB-BD31-4B8C-83A1-F6EECF244321}">
                <p14:modId xmlns:p14="http://schemas.microsoft.com/office/powerpoint/2010/main" val="3503193898"/>
              </p:ext>
            </p:extLst>
          </p:nvPr>
        </p:nvGraphicFramePr>
        <p:xfrm>
          <a:off x="838200" y="1825625"/>
          <a:ext cx="10515600" cy="4405050"/>
        </p:xfrm>
        <a:graphic>
          <a:graphicData uri="http://schemas.openxmlformats.org/drawingml/2006/table">
            <a:tbl>
              <a:tblPr bandRow="1">
                <a:tableStyleId>{5C22544A-7EE6-4342-B048-85BDC9FD1C3A}</a:tableStyleId>
              </a:tblPr>
              <a:tblGrid>
                <a:gridCol w="10515600">
                  <a:extLst>
                    <a:ext uri="{9D8B030D-6E8A-4147-A177-3AD203B41FA5}">
                      <a16:colId xmlns:a16="http://schemas.microsoft.com/office/drawing/2014/main" val="754724988"/>
                    </a:ext>
                  </a:extLst>
                </a:gridCol>
              </a:tblGrid>
              <a:tr h="440505">
                <a:tc>
                  <a:txBody>
                    <a:bodyPr/>
                    <a:lstStyle/>
                    <a:p>
                      <a:r>
                        <a:rPr lang="en-US"/>
                        <a:t>ABSTRACT</a:t>
                      </a:r>
                      <a:endParaRPr lang="en-IN"/>
                    </a:p>
                  </a:txBody>
                  <a:tcPr/>
                </a:tc>
                <a:extLst>
                  <a:ext uri="{0D108BD9-81ED-4DB2-BD59-A6C34878D82A}">
                    <a16:rowId xmlns:a16="http://schemas.microsoft.com/office/drawing/2014/main" val="3427946756"/>
                  </a:ext>
                </a:extLst>
              </a:tr>
              <a:tr h="440505">
                <a:tc>
                  <a:txBody>
                    <a:bodyPr/>
                    <a:lstStyle/>
                    <a:p>
                      <a:r>
                        <a:rPr lang="en-US"/>
                        <a:t>INTRODUCTION</a:t>
                      </a:r>
                      <a:endParaRPr lang="en-IN"/>
                    </a:p>
                  </a:txBody>
                  <a:tcPr/>
                </a:tc>
                <a:extLst>
                  <a:ext uri="{0D108BD9-81ED-4DB2-BD59-A6C34878D82A}">
                    <a16:rowId xmlns:a16="http://schemas.microsoft.com/office/drawing/2014/main" val="536715154"/>
                  </a:ext>
                </a:extLst>
              </a:tr>
              <a:tr h="440505">
                <a:tc>
                  <a:txBody>
                    <a:bodyPr/>
                    <a:lstStyle/>
                    <a:p>
                      <a:r>
                        <a:rPr lang="en-US"/>
                        <a:t>LITERATURE REVIEW </a:t>
                      </a:r>
                      <a:endParaRPr lang="en-IN"/>
                    </a:p>
                  </a:txBody>
                  <a:tcPr/>
                </a:tc>
                <a:extLst>
                  <a:ext uri="{0D108BD9-81ED-4DB2-BD59-A6C34878D82A}">
                    <a16:rowId xmlns:a16="http://schemas.microsoft.com/office/drawing/2014/main" val="3410467086"/>
                  </a:ext>
                </a:extLst>
              </a:tr>
              <a:tr h="440505">
                <a:tc>
                  <a:txBody>
                    <a:bodyPr/>
                    <a:lstStyle/>
                    <a:p>
                      <a:r>
                        <a:rPr lang="en-US"/>
                        <a:t>EXISTING PROBLEM</a:t>
                      </a:r>
                      <a:endParaRPr lang="en-IN"/>
                    </a:p>
                  </a:txBody>
                  <a:tcPr/>
                </a:tc>
                <a:extLst>
                  <a:ext uri="{0D108BD9-81ED-4DB2-BD59-A6C34878D82A}">
                    <a16:rowId xmlns:a16="http://schemas.microsoft.com/office/drawing/2014/main" val="1905126553"/>
                  </a:ext>
                </a:extLst>
              </a:tr>
              <a:tr h="440505">
                <a:tc>
                  <a:txBody>
                    <a:bodyPr/>
                    <a:lstStyle/>
                    <a:p>
                      <a:r>
                        <a:rPr lang="en-US"/>
                        <a:t>RESEARCH OBJECTIVES</a:t>
                      </a:r>
                      <a:endParaRPr lang="en-IN"/>
                    </a:p>
                  </a:txBody>
                  <a:tcPr/>
                </a:tc>
                <a:extLst>
                  <a:ext uri="{0D108BD9-81ED-4DB2-BD59-A6C34878D82A}">
                    <a16:rowId xmlns:a16="http://schemas.microsoft.com/office/drawing/2014/main" val="3772796185"/>
                  </a:ext>
                </a:extLst>
              </a:tr>
              <a:tr h="440505">
                <a:tc>
                  <a:txBody>
                    <a:bodyPr/>
                    <a:lstStyle/>
                    <a:p>
                      <a:r>
                        <a:rPr lang="en-US"/>
                        <a:t>PROPOSED METHODOLOGY</a:t>
                      </a:r>
                      <a:endParaRPr lang="en-IN"/>
                    </a:p>
                  </a:txBody>
                  <a:tcPr/>
                </a:tc>
                <a:extLst>
                  <a:ext uri="{0D108BD9-81ED-4DB2-BD59-A6C34878D82A}">
                    <a16:rowId xmlns:a16="http://schemas.microsoft.com/office/drawing/2014/main" val="3166113584"/>
                  </a:ext>
                </a:extLst>
              </a:tr>
              <a:tr h="440505">
                <a:tc>
                  <a:txBody>
                    <a:bodyPr/>
                    <a:lstStyle/>
                    <a:p>
                      <a:r>
                        <a:rPr lang="en-US"/>
                        <a:t>RESULTS AND DISCUSSIONS </a:t>
                      </a:r>
                      <a:endParaRPr lang="en-IN"/>
                    </a:p>
                  </a:txBody>
                  <a:tcPr/>
                </a:tc>
                <a:extLst>
                  <a:ext uri="{0D108BD9-81ED-4DB2-BD59-A6C34878D82A}">
                    <a16:rowId xmlns:a16="http://schemas.microsoft.com/office/drawing/2014/main" val="1931384227"/>
                  </a:ext>
                </a:extLst>
              </a:tr>
              <a:tr h="440505">
                <a:tc>
                  <a:txBody>
                    <a:bodyPr/>
                    <a:lstStyle/>
                    <a:p>
                      <a:r>
                        <a:rPr lang="en-US"/>
                        <a:t>CONCULSION</a:t>
                      </a:r>
                      <a:endParaRPr lang="en-IN"/>
                    </a:p>
                  </a:txBody>
                  <a:tcPr/>
                </a:tc>
                <a:extLst>
                  <a:ext uri="{0D108BD9-81ED-4DB2-BD59-A6C34878D82A}">
                    <a16:rowId xmlns:a16="http://schemas.microsoft.com/office/drawing/2014/main" val="4193509388"/>
                  </a:ext>
                </a:extLst>
              </a:tr>
              <a:tr h="440505">
                <a:tc>
                  <a:txBody>
                    <a:bodyPr/>
                    <a:lstStyle/>
                    <a:p>
                      <a:r>
                        <a:rPr lang="en-US"/>
                        <a:t>REFERENCES</a:t>
                      </a:r>
                      <a:endParaRPr lang="en-IN"/>
                    </a:p>
                  </a:txBody>
                  <a:tcPr/>
                </a:tc>
                <a:extLst>
                  <a:ext uri="{0D108BD9-81ED-4DB2-BD59-A6C34878D82A}">
                    <a16:rowId xmlns:a16="http://schemas.microsoft.com/office/drawing/2014/main" val="2032606491"/>
                  </a:ext>
                </a:extLst>
              </a:tr>
              <a:tr h="440505">
                <a:tc>
                  <a:txBody>
                    <a:bodyPr/>
                    <a:lstStyle/>
                    <a:p>
                      <a:r>
                        <a:rPr lang="en-US"/>
                        <a:t>PAPER PUBLICATIONS</a:t>
                      </a:r>
                      <a:endParaRPr lang="en-IN"/>
                    </a:p>
                  </a:txBody>
                  <a:tcPr/>
                </a:tc>
                <a:extLst>
                  <a:ext uri="{0D108BD9-81ED-4DB2-BD59-A6C34878D82A}">
                    <a16:rowId xmlns:a16="http://schemas.microsoft.com/office/drawing/2014/main" val="2648123673"/>
                  </a:ext>
                </a:extLst>
              </a:tr>
            </a:tbl>
          </a:graphicData>
        </a:graphic>
      </p:graphicFrame>
    </p:spTree>
    <p:extLst>
      <p:ext uri="{BB962C8B-B14F-4D97-AF65-F5344CB8AC3E}">
        <p14:creationId xmlns:p14="http://schemas.microsoft.com/office/powerpoint/2010/main" val="5724065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0364" y="365126"/>
            <a:ext cx="10753436" cy="789420"/>
          </a:xfrm>
        </p:spPr>
        <p:txBody>
          <a:bodyPr>
            <a:normAutofit/>
          </a:bodyPr>
          <a:lstStyle/>
          <a:p>
            <a:r>
              <a:rPr lang="en-IN" sz="2400" b="1">
                <a:solidFill>
                  <a:schemeClr val="accent1">
                    <a:lumMod val="75000"/>
                  </a:schemeClr>
                </a:solidFill>
                <a:latin typeface="Times New Roman" panose="02020603050405020304" pitchFamily="18" charset="0"/>
                <a:cs typeface="Times New Roman" panose="02020603050405020304" pitchFamily="18" charset="0"/>
              </a:rPr>
              <a:t>Abstract </a:t>
            </a:r>
          </a:p>
        </p:txBody>
      </p:sp>
      <p:sp>
        <p:nvSpPr>
          <p:cNvPr id="3" name="Content Placeholder 2"/>
          <p:cNvSpPr>
            <a:spLocks noGrp="1"/>
          </p:cNvSpPr>
          <p:nvPr>
            <p:ph idx="1"/>
          </p:nvPr>
        </p:nvSpPr>
        <p:spPr>
          <a:xfrm>
            <a:off x="517236" y="1246909"/>
            <a:ext cx="10836564" cy="5366542"/>
          </a:xfrm>
        </p:spPr>
        <p:txBody>
          <a:bodyPr>
            <a:noAutofit/>
          </a:bodyPr>
          <a:lstStyle/>
          <a:p>
            <a:pPr marL="0" indent="0" algn="just">
              <a:buNone/>
            </a:pPr>
            <a:r>
              <a:rPr lang="en-US" sz="2400">
                <a:latin typeface="Times New Roman" panose="02020603050405020304" pitchFamily="18" charset="0"/>
                <a:cs typeface="Times New Roman" panose="02020603050405020304" pitchFamily="18" charset="0"/>
              </a:rPr>
              <a:t>Wilson’s disease (WD) is an uncommon autosomal recessive condition that mostly affects the brain, liver and eyes due to pathological excess copper caused by mutations in the ATP7Bgene. Diagnosing WD is still very difficult due to its extremely varied clinical </a:t>
            </a:r>
            <a:r>
              <a:rPr lang="en-US" sz="2400" err="1">
                <a:latin typeface="Times New Roman" panose="02020603050405020304" pitchFamily="18" charset="0"/>
                <a:cs typeface="Times New Roman" panose="02020603050405020304" pitchFamily="18" charset="0"/>
              </a:rPr>
              <a:t>presentation,which</a:t>
            </a:r>
            <a:r>
              <a:rPr lang="en-US" sz="2400">
                <a:latin typeface="Times New Roman" panose="02020603050405020304" pitchFamily="18" charset="0"/>
                <a:cs typeface="Times New Roman" panose="02020603050405020304" pitchFamily="18" charset="0"/>
              </a:rPr>
              <a:t> includes acute liver failure as well as severe neuropsychiatric symptoms, to asymptomatic biochemical abnormalities. Conventional approaches cause prediction delays because of their lack of computational specificity and recall. This study presents a unique hybrid deep learning (DL) model called </a:t>
            </a:r>
            <a:r>
              <a:rPr lang="en-US" sz="2400" err="1">
                <a:latin typeface="Times New Roman" panose="02020603050405020304" pitchFamily="18" charset="0"/>
                <a:cs typeface="Times New Roman" panose="02020603050405020304" pitchFamily="18" charset="0"/>
              </a:rPr>
              <a:t>AttenTabTCN</a:t>
            </a:r>
            <a:r>
              <a:rPr lang="en-US" sz="2400">
                <a:latin typeface="Times New Roman" panose="02020603050405020304" pitchFamily="18" charset="0"/>
                <a:cs typeface="Times New Roman" panose="02020603050405020304" pitchFamily="18" charset="0"/>
              </a:rPr>
              <a:t>-Fuse, which combines </a:t>
            </a:r>
            <a:r>
              <a:rPr lang="en-US" sz="2400" err="1">
                <a:latin typeface="Times New Roman" panose="02020603050405020304" pitchFamily="18" charset="0"/>
                <a:cs typeface="Times New Roman" panose="02020603050405020304" pitchFamily="18" charset="0"/>
              </a:rPr>
              <a:t>TabNet,Temporal</a:t>
            </a:r>
            <a:r>
              <a:rPr lang="en-US" sz="2400">
                <a:latin typeface="Times New Roman" panose="02020603050405020304" pitchFamily="18" charset="0"/>
                <a:cs typeface="Times New Roman" panose="02020603050405020304" pitchFamily="18" charset="0"/>
              </a:rPr>
              <a:t> Convolutional Networks (TCNs) and an Attention Fusion Layer in order to get over these drawbacks. Additionally, the hybrid model was optimized using </a:t>
            </a:r>
            <a:r>
              <a:rPr lang="en-US" sz="2400" err="1">
                <a:latin typeface="Times New Roman" panose="02020603050405020304" pitchFamily="18" charset="0"/>
                <a:cs typeface="Times New Roman" panose="02020603050405020304" pitchFamily="18" charset="0"/>
              </a:rPr>
              <a:t>CyAdamW</a:t>
            </a:r>
            <a:r>
              <a:rPr lang="en-US" sz="2400">
                <a:latin typeface="Times New Roman" panose="02020603050405020304" pitchFamily="18" charset="0"/>
                <a:cs typeface="Times New Roman" panose="02020603050405020304" pitchFamily="18" charset="0"/>
              </a:rPr>
              <a:t> (Adaptive Moment Estimation with Weight Decay and Cyclical Learning Rate scheduler) to capture feature interactions along with temporal dependencies. </a:t>
            </a:r>
            <a:endParaRPr lang="en-IN"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72868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0A27716-C618-0C97-76FB-4E68A310D909}"/>
              </a:ext>
            </a:extLst>
          </p:cNvPr>
          <p:cNvSpPr txBox="1"/>
          <p:nvPr/>
        </p:nvSpPr>
        <p:spPr>
          <a:xfrm>
            <a:off x="818708" y="988828"/>
            <a:ext cx="10143460" cy="3170099"/>
          </a:xfrm>
          <a:prstGeom prst="rect">
            <a:avLst/>
          </a:prstGeom>
          <a:noFill/>
        </p:spPr>
        <p:txBody>
          <a:bodyPr wrap="square" rtlCol="0">
            <a:spAutoFit/>
          </a:bodyPr>
          <a:lstStyle/>
          <a:p>
            <a:pPr algn="just"/>
            <a:r>
              <a:rPr lang="en-US" sz="2000">
                <a:latin typeface="Times New Roman" panose="02020603050405020304" pitchFamily="18" charset="0"/>
                <a:cs typeface="Times New Roman" panose="02020603050405020304" pitchFamily="18" charset="0"/>
              </a:rPr>
              <a:t>The data was split into  training 70%, validation 15% and testing 15%. The proposed model was compared with existing models like Support Vector Machine (SVM), Back propagation (BP), Logistic regression (LR) and Extreme Gradient Boosting (XGB). Experimental outcomes show that the proposed model obtains an accuracy (ACC) of 99.95%, precision (PREC) of 99.21%, recall/sensitivity of 98.34%, F1-score of 98.12%, Matthews Correlation Coefficient (MCC) of 93.54% and Area under the Receiver Operating Characteristic Curve (ROC-AUC) of 0.987. These results demonstrate the effectiveness and dependability of the proposed model and exceed existing models. Overall, this study shows that explainable AI, as well as hybrid DL architectures, could together produce accurate and comprehensible predictions that could help in early clinical decision-making in WD.</a:t>
            </a:r>
            <a:endParaRPr lang="en-IN" sz="2000"/>
          </a:p>
        </p:txBody>
      </p:sp>
    </p:spTree>
    <p:extLst>
      <p:ext uri="{BB962C8B-B14F-4D97-AF65-F5344CB8AC3E}">
        <p14:creationId xmlns:p14="http://schemas.microsoft.com/office/powerpoint/2010/main" val="6216302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36354"/>
          </a:xfrm>
        </p:spPr>
        <p:txBody>
          <a:bodyPr/>
          <a:lstStyle/>
          <a:p>
            <a:r>
              <a:rPr lang="en-IN" sz="2400" b="1">
                <a:solidFill>
                  <a:srgbClr val="2E75B6"/>
                </a:solidFill>
                <a:latin typeface="Times New Roman"/>
                <a:cs typeface="Times New Roman"/>
              </a:rPr>
              <a:t>Introduction</a:t>
            </a:r>
            <a:r>
              <a:rPr lang="en-IN" b="1">
                <a:solidFill>
                  <a:schemeClr val="accent1">
                    <a:lumMod val="75000"/>
                  </a:schemeClr>
                </a:solidFill>
                <a:latin typeface="Times New Roman"/>
                <a:cs typeface="Times New Roman"/>
              </a:rPr>
              <a:t> </a:t>
            </a:r>
          </a:p>
        </p:txBody>
      </p:sp>
      <p:sp>
        <p:nvSpPr>
          <p:cNvPr id="3" name="Content Placeholder 2"/>
          <p:cNvSpPr>
            <a:spLocks noGrp="1"/>
          </p:cNvSpPr>
          <p:nvPr>
            <p:ph idx="1"/>
          </p:nvPr>
        </p:nvSpPr>
        <p:spPr>
          <a:xfrm>
            <a:off x="838200" y="1350335"/>
            <a:ext cx="10515600" cy="4826628"/>
          </a:xfrm>
        </p:spPr>
        <p:txBody>
          <a:bodyPr>
            <a:normAutofit/>
          </a:bodyPr>
          <a:lstStyle/>
          <a:p>
            <a:pPr>
              <a:lnSpc>
                <a:spcPct val="100000"/>
              </a:lnSpc>
              <a:buFont typeface="Wingdings" panose="05000000000000000000" pitchFamily="2" charset="2"/>
              <a:buChar char="Ø"/>
            </a:pPr>
            <a:r>
              <a:rPr lang="en-US" sz="2000">
                <a:latin typeface="Times New Roman" panose="02020603050405020304" pitchFamily="18" charset="0"/>
                <a:cs typeface="Times New Roman" panose="02020603050405020304" pitchFamily="18" charset="0"/>
              </a:rPr>
              <a:t>Wilson’s Disease (WD) is a hereditary disease caused by excess copper in the body.</a:t>
            </a:r>
          </a:p>
          <a:p>
            <a:pPr>
              <a:lnSpc>
                <a:spcPct val="100000"/>
              </a:lnSpc>
              <a:buFont typeface="Wingdings" panose="05000000000000000000" pitchFamily="2" charset="2"/>
              <a:buChar char="Ø"/>
            </a:pPr>
            <a:r>
              <a:rPr lang="en-US" sz="2000">
                <a:latin typeface="Times New Roman" panose="02020603050405020304" pitchFamily="18" charset="0"/>
                <a:cs typeface="Times New Roman" panose="02020603050405020304" pitchFamily="18" charset="0"/>
              </a:rPr>
              <a:t>Extra copper mainly affects the liver and brain.</a:t>
            </a:r>
          </a:p>
          <a:p>
            <a:pPr marL="0" indent="0">
              <a:lnSpc>
                <a:spcPct val="100000"/>
              </a:lnSpc>
              <a:buNone/>
            </a:pPr>
            <a:r>
              <a:rPr lang="en-US" sz="2000" b="1">
                <a:latin typeface="Times New Roman" panose="02020603050405020304" pitchFamily="18" charset="0"/>
                <a:cs typeface="Times New Roman" panose="02020603050405020304" pitchFamily="18" charset="0"/>
              </a:rPr>
              <a:t>Symptoms</a:t>
            </a:r>
          </a:p>
          <a:p>
            <a:pPr>
              <a:lnSpc>
                <a:spcPct val="100000"/>
              </a:lnSpc>
              <a:buFont typeface="Wingdings" panose="05000000000000000000" pitchFamily="2" charset="2"/>
              <a:buChar char="Ø"/>
            </a:pPr>
            <a:r>
              <a:rPr lang="en-US" sz="2000">
                <a:latin typeface="Times New Roman" panose="02020603050405020304" pitchFamily="18" charset="0"/>
                <a:cs typeface="Times New Roman" panose="02020603050405020304" pitchFamily="18" charset="0"/>
              </a:rPr>
              <a:t>Liver problems appear early and improve faster with treatment.</a:t>
            </a:r>
          </a:p>
          <a:p>
            <a:pPr>
              <a:lnSpc>
                <a:spcPct val="100000"/>
              </a:lnSpc>
              <a:buFont typeface="Wingdings" panose="05000000000000000000" pitchFamily="2" charset="2"/>
              <a:buChar char="Ø"/>
            </a:pPr>
            <a:r>
              <a:rPr lang="en-US" sz="2000">
                <a:latin typeface="Times New Roman" panose="02020603050405020304" pitchFamily="18" charset="0"/>
                <a:cs typeface="Times New Roman" panose="02020603050405020304" pitchFamily="18" charset="0"/>
              </a:rPr>
              <a:t>Neurological symptoms include:</a:t>
            </a:r>
          </a:p>
          <a:p>
            <a:pPr lvl="1">
              <a:lnSpc>
                <a:spcPct val="100000"/>
              </a:lnSpc>
            </a:pPr>
            <a:r>
              <a:rPr lang="en-US" sz="2000">
                <a:latin typeface="Times New Roman" panose="02020603050405020304" pitchFamily="18" charset="0"/>
                <a:cs typeface="Times New Roman" panose="02020603050405020304" pitchFamily="18" charset="0"/>
              </a:rPr>
              <a:t>Tremor</a:t>
            </a:r>
          </a:p>
          <a:p>
            <a:pPr lvl="1">
              <a:lnSpc>
                <a:spcPct val="100000"/>
              </a:lnSpc>
            </a:pPr>
            <a:r>
              <a:rPr lang="en-US" sz="2000">
                <a:latin typeface="Times New Roman" panose="02020603050405020304" pitchFamily="18" charset="0"/>
                <a:cs typeface="Times New Roman" panose="02020603050405020304" pitchFamily="18" charset="0"/>
              </a:rPr>
              <a:t>Dystonia</a:t>
            </a:r>
          </a:p>
          <a:p>
            <a:pPr lvl="1">
              <a:lnSpc>
                <a:spcPct val="100000"/>
              </a:lnSpc>
            </a:pPr>
            <a:r>
              <a:rPr lang="en-US" sz="2000">
                <a:latin typeface="Times New Roman" panose="02020603050405020304" pitchFamily="18" charset="0"/>
                <a:cs typeface="Times New Roman" panose="02020603050405020304" pitchFamily="18" charset="0"/>
              </a:rPr>
              <a:t>Parkinsonism</a:t>
            </a:r>
          </a:p>
          <a:p>
            <a:pPr lvl="1">
              <a:lnSpc>
                <a:spcPct val="100000"/>
              </a:lnSpc>
            </a:pPr>
            <a:r>
              <a:rPr lang="en-US" sz="2000">
                <a:latin typeface="Times New Roman" panose="02020603050405020304" pitchFamily="18" charset="0"/>
                <a:cs typeface="Times New Roman" panose="02020603050405020304" pitchFamily="18" charset="0"/>
              </a:rPr>
              <a:t>Speech and walking problems</a:t>
            </a:r>
          </a:p>
          <a:p>
            <a:pPr>
              <a:lnSpc>
                <a:spcPct val="100000"/>
              </a:lnSpc>
              <a:buFont typeface="Wingdings" panose="05000000000000000000" pitchFamily="2" charset="2"/>
              <a:buChar char="Ø"/>
            </a:pPr>
            <a:r>
              <a:rPr lang="en-US" sz="2000">
                <a:latin typeface="Times New Roman" panose="02020603050405020304" pitchFamily="18" charset="0"/>
                <a:cs typeface="Times New Roman" panose="02020603050405020304" pitchFamily="18" charset="0"/>
              </a:rPr>
              <a:t>Psychiatric symptoms like anxiety, depression, and behavior changes are also common.</a:t>
            </a:r>
          </a:p>
          <a:p>
            <a:pPr marL="0" indent="0">
              <a:buNone/>
            </a:pPr>
            <a:endParaRPr lang="en-US" b="1"/>
          </a:p>
        </p:txBody>
      </p:sp>
    </p:spTree>
    <p:extLst>
      <p:ext uri="{BB962C8B-B14F-4D97-AF65-F5344CB8AC3E}">
        <p14:creationId xmlns:p14="http://schemas.microsoft.com/office/powerpoint/2010/main" val="24276010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17235" y="415635"/>
            <a:ext cx="11111345" cy="4708981"/>
          </a:xfrm>
          <a:prstGeom prst="rect">
            <a:avLst/>
          </a:prstGeom>
        </p:spPr>
        <p:txBody>
          <a:bodyPr wrap="square">
            <a:spAutoFit/>
          </a:bodyPr>
          <a:lstStyle/>
          <a:p>
            <a:r>
              <a:rPr lang="en-US" sz="2000" b="1">
                <a:latin typeface="Times New Roman" panose="02020603050405020304" pitchFamily="18" charset="0"/>
                <a:cs typeface="Times New Roman" panose="02020603050405020304" pitchFamily="18" charset="0"/>
              </a:rPr>
              <a:t>Treatment</a:t>
            </a:r>
          </a:p>
          <a:p>
            <a:pPr marL="342900" indent="-342900">
              <a:buFont typeface="Wingdings" panose="05000000000000000000" pitchFamily="2" charset="2"/>
              <a:buChar char="Ø"/>
            </a:pPr>
            <a:r>
              <a:rPr lang="en-US" sz="2000">
                <a:latin typeface="Times New Roman" panose="02020603050405020304" pitchFamily="18" charset="0"/>
                <a:cs typeface="Times New Roman" panose="02020603050405020304" pitchFamily="18" charset="0"/>
              </a:rPr>
              <a:t>    Treatment goal is to remove excess copper from the body.</a:t>
            </a:r>
          </a:p>
          <a:p>
            <a:pPr marL="342900" indent="-342900">
              <a:buFont typeface="Wingdings" panose="05000000000000000000" pitchFamily="2" charset="2"/>
              <a:buChar char="Ø"/>
            </a:pPr>
            <a:r>
              <a:rPr lang="en-US" sz="2000">
                <a:latin typeface="Times New Roman" panose="02020603050405020304" pitchFamily="18" charset="0"/>
                <a:cs typeface="Times New Roman" panose="02020603050405020304" pitchFamily="18" charset="0"/>
              </a:rPr>
              <a:t>     Chelating drugs (D-</a:t>
            </a:r>
            <a:r>
              <a:rPr lang="en-US" sz="2000" err="1">
                <a:latin typeface="Times New Roman" panose="02020603050405020304" pitchFamily="18" charset="0"/>
                <a:cs typeface="Times New Roman" panose="02020603050405020304" pitchFamily="18" charset="0"/>
              </a:rPr>
              <a:t>penicillamine</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Trientine</a:t>
            </a:r>
            <a:r>
              <a:rPr lang="en-US" sz="2000">
                <a:latin typeface="Times New Roman" panose="02020603050405020304" pitchFamily="18" charset="0"/>
                <a:cs typeface="Times New Roman" panose="02020603050405020304" pitchFamily="18" charset="0"/>
              </a:rPr>
              <a:t>) increase copper removal through urine.</a:t>
            </a:r>
          </a:p>
          <a:p>
            <a:pPr marL="342900" indent="-342900">
              <a:buFont typeface="Wingdings" panose="05000000000000000000" pitchFamily="2" charset="2"/>
              <a:buChar char="Ø"/>
            </a:pPr>
            <a:r>
              <a:rPr lang="en-US" sz="2000">
                <a:latin typeface="Times New Roman" panose="02020603050405020304" pitchFamily="18" charset="0"/>
                <a:cs typeface="Times New Roman" panose="02020603050405020304" pitchFamily="18" charset="0"/>
              </a:rPr>
              <a:t>     Zinc salts reduce copper absorption in the intestine.</a:t>
            </a:r>
          </a:p>
          <a:p>
            <a:pPr marL="342900" indent="-342900">
              <a:buFont typeface="Wingdings" panose="05000000000000000000" pitchFamily="2" charset="2"/>
              <a:buChar char="Ø"/>
            </a:pPr>
            <a:r>
              <a:rPr lang="en-US" sz="2000">
                <a:latin typeface="Times New Roman" panose="02020603050405020304" pitchFamily="18" charset="0"/>
                <a:cs typeface="Times New Roman" panose="02020603050405020304" pitchFamily="18" charset="0"/>
              </a:rPr>
              <a:t>     Molybdenum salts bind copper and increase bile excretion.</a:t>
            </a:r>
          </a:p>
          <a:p>
            <a:r>
              <a:rPr lang="en-US" sz="2000" b="1">
                <a:latin typeface="Times New Roman" panose="02020603050405020304" pitchFamily="18" charset="0"/>
                <a:cs typeface="Times New Roman" panose="02020603050405020304" pitchFamily="18" charset="0"/>
              </a:rPr>
              <a:t>Neurological Deterioration</a:t>
            </a:r>
          </a:p>
          <a:p>
            <a:pPr marL="342900" indent="-342900">
              <a:buFont typeface="Wingdings" panose="05000000000000000000" pitchFamily="2" charset="2"/>
              <a:buChar char="Ø"/>
            </a:pPr>
            <a:r>
              <a:rPr lang="en-US" sz="2000">
                <a:latin typeface="Times New Roman" panose="02020603050405020304" pitchFamily="18" charset="0"/>
                <a:cs typeface="Times New Roman" panose="02020603050405020304" pitchFamily="18" charset="0"/>
              </a:rPr>
              <a:t>    Some patients show early neurological worsening within 6 months of treatment.</a:t>
            </a:r>
          </a:p>
          <a:p>
            <a:pPr marL="342900" indent="-342900">
              <a:buFont typeface="Wingdings" panose="05000000000000000000" pitchFamily="2" charset="2"/>
              <a:buChar char="Ø"/>
            </a:pPr>
            <a:r>
              <a:rPr lang="en-US" sz="2000">
                <a:latin typeface="Times New Roman" panose="02020603050405020304" pitchFamily="18" charset="0"/>
                <a:cs typeface="Times New Roman" panose="02020603050405020304" pitchFamily="18" charset="0"/>
              </a:rPr>
              <a:t>    This is called paradoxical deterioration.</a:t>
            </a:r>
          </a:p>
          <a:p>
            <a:pPr marL="342900" indent="-342900">
              <a:buFont typeface="Wingdings" panose="05000000000000000000" pitchFamily="2" charset="2"/>
              <a:buChar char="Ø"/>
            </a:pPr>
            <a:r>
              <a:rPr lang="en-US" sz="2000">
                <a:latin typeface="Times New Roman" panose="02020603050405020304" pitchFamily="18" charset="0"/>
                <a:cs typeface="Times New Roman" panose="02020603050405020304" pitchFamily="18" charset="0"/>
              </a:rPr>
              <a:t>    Late worsening happens due to poor drug compliance</a:t>
            </a:r>
          </a:p>
          <a:p>
            <a:pPr marL="342900" indent="-342900">
              <a:buFont typeface="Wingdings" panose="05000000000000000000" pitchFamily="2" charset="2"/>
              <a:buChar char="Ø"/>
            </a:pPr>
            <a:r>
              <a:rPr lang="en-US" sz="2000">
                <a:latin typeface="Times New Roman" panose="02020603050405020304" pitchFamily="18" charset="0"/>
                <a:cs typeface="Times New Roman" panose="02020603050405020304" pitchFamily="18" charset="0"/>
              </a:rPr>
              <a:t>    Neurological recovery is slow and may take up to 3 years.</a:t>
            </a:r>
          </a:p>
          <a:p>
            <a:r>
              <a:rPr lang="en-US" sz="2000" b="1">
                <a:latin typeface="Times New Roman" panose="02020603050405020304" pitchFamily="18" charset="0"/>
                <a:cs typeface="Times New Roman" panose="02020603050405020304" pitchFamily="18" charset="0"/>
              </a:rPr>
              <a:t>MRI Role</a:t>
            </a:r>
          </a:p>
          <a:p>
            <a:pPr marL="342900" indent="-342900">
              <a:buFont typeface="Wingdings" panose="05000000000000000000" pitchFamily="2" charset="2"/>
              <a:buChar char="Ø"/>
            </a:pPr>
            <a:r>
              <a:rPr lang="en-US" sz="2000">
                <a:latin typeface="Times New Roman" panose="02020603050405020304" pitchFamily="18" charset="0"/>
                <a:cs typeface="Times New Roman" panose="02020603050405020304" pitchFamily="18" charset="0"/>
              </a:rPr>
              <a:t>    Brain MRI is very useful for WD diagnosis and monitoring.</a:t>
            </a:r>
          </a:p>
          <a:p>
            <a:r>
              <a:rPr lang="en-US" sz="2000">
                <a:latin typeface="Times New Roman" panose="02020603050405020304" pitchFamily="18" charset="0"/>
                <a:cs typeface="Times New Roman" panose="02020603050405020304" pitchFamily="18" charset="0"/>
              </a:rPr>
              <a:t>    </a:t>
            </a:r>
            <a:r>
              <a:rPr lang="en-US" sz="2000" b="1">
                <a:latin typeface="Times New Roman" panose="02020603050405020304" pitchFamily="18" charset="0"/>
                <a:cs typeface="Times New Roman" panose="02020603050405020304" pitchFamily="18" charset="0"/>
              </a:rPr>
              <a:t>Typical MRI findings</a:t>
            </a:r>
            <a:r>
              <a:rPr lang="en-US" sz="2000">
                <a:latin typeface="Times New Roman" panose="02020603050405020304" pitchFamily="18" charset="0"/>
                <a:cs typeface="Times New Roman" panose="02020603050405020304" pitchFamily="18" charset="0"/>
              </a:rPr>
              <a:t>:</a:t>
            </a:r>
          </a:p>
          <a:p>
            <a:r>
              <a:rPr lang="en-US" sz="2000">
                <a:latin typeface="Times New Roman" panose="02020603050405020304" pitchFamily="18" charset="0"/>
                <a:cs typeface="Times New Roman" panose="02020603050405020304" pitchFamily="18" charset="0"/>
              </a:rPr>
              <a:t>            Changes in basal ganglia, thalamus, pons</a:t>
            </a:r>
          </a:p>
          <a:p>
            <a:pPr marL="342900" indent="-342900">
              <a:buFont typeface="Wingdings" panose="05000000000000000000" pitchFamily="2" charset="2"/>
              <a:buChar char="Ø"/>
            </a:pPr>
            <a:r>
              <a:rPr lang="en-US" sz="2000">
                <a:latin typeface="Times New Roman" panose="02020603050405020304" pitchFamily="18" charset="0"/>
                <a:cs typeface="Times New Roman" panose="02020603050405020304" pitchFamily="18" charset="0"/>
              </a:rPr>
              <a:t>    MRI alone is not enough; clinical and lab tests are also needed.</a:t>
            </a:r>
          </a:p>
        </p:txBody>
      </p:sp>
    </p:spTree>
    <p:extLst>
      <p:ext uri="{BB962C8B-B14F-4D97-AF65-F5344CB8AC3E}">
        <p14:creationId xmlns:p14="http://schemas.microsoft.com/office/powerpoint/2010/main" val="8711096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1" y="129310"/>
            <a:ext cx="11023599" cy="790512"/>
          </a:xfrm>
        </p:spPr>
        <p:txBody>
          <a:bodyPr/>
          <a:lstStyle/>
          <a:p>
            <a:r>
              <a:rPr lang="en-IN" b="1">
                <a:solidFill>
                  <a:srgbClr val="2E75B6"/>
                </a:solidFill>
                <a:latin typeface="Times New Roman"/>
                <a:cs typeface="Times New Roman"/>
              </a:rPr>
              <a:t>Literature Review</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013540284"/>
              </p:ext>
            </p:extLst>
          </p:nvPr>
        </p:nvGraphicFramePr>
        <p:xfrm>
          <a:off x="932872" y="951347"/>
          <a:ext cx="11009745" cy="5611710"/>
        </p:xfrm>
        <a:graphic>
          <a:graphicData uri="http://schemas.openxmlformats.org/drawingml/2006/table">
            <a:tbl>
              <a:tblPr/>
              <a:tblGrid>
                <a:gridCol w="3669915">
                  <a:extLst>
                    <a:ext uri="{9D8B030D-6E8A-4147-A177-3AD203B41FA5}">
                      <a16:colId xmlns:a16="http://schemas.microsoft.com/office/drawing/2014/main" val="20000"/>
                    </a:ext>
                  </a:extLst>
                </a:gridCol>
                <a:gridCol w="3669915">
                  <a:extLst>
                    <a:ext uri="{9D8B030D-6E8A-4147-A177-3AD203B41FA5}">
                      <a16:colId xmlns:a16="http://schemas.microsoft.com/office/drawing/2014/main" val="20001"/>
                    </a:ext>
                  </a:extLst>
                </a:gridCol>
                <a:gridCol w="3669915">
                  <a:extLst>
                    <a:ext uri="{9D8B030D-6E8A-4147-A177-3AD203B41FA5}">
                      <a16:colId xmlns:a16="http://schemas.microsoft.com/office/drawing/2014/main" val="20002"/>
                    </a:ext>
                  </a:extLst>
                </a:gridCol>
              </a:tblGrid>
              <a:tr h="498762">
                <a:tc>
                  <a:txBody>
                    <a:bodyPr/>
                    <a:lstStyle/>
                    <a:p>
                      <a:endParaRPr lang="en-IN"/>
                    </a:p>
                  </a:txBody>
                  <a:tcPr marL="51802" marR="51802" marT="25901" marB="25901" anchor="ctr">
                    <a:lnL>
                      <a:noFill/>
                    </a:lnL>
                    <a:lnR>
                      <a:noFill/>
                    </a:lnR>
                    <a:lnT>
                      <a:noFill/>
                    </a:lnT>
                    <a:lnB>
                      <a:noFill/>
                    </a:lnB>
                  </a:tcPr>
                </a:tc>
                <a:tc>
                  <a:txBody>
                    <a:bodyPr/>
                    <a:lstStyle/>
                    <a:p>
                      <a:endParaRPr lang="en-IN"/>
                    </a:p>
                  </a:txBody>
                  <a:tcPr marL="51802" marR="51802" marT="25901" marB="25901" anchor="ctr">
                    <a:lnL>
                      <a:noFill/>
                    </a:lnL>
                    <a:lnR>
                      <a:noFill/>
                    </a:lnR>
                    <a:lnT>
                      <a:noFill/>
                    </a:lnT>
                    <a:lnB>
                      <a:noFill/>
                    </a:lnB>
                  </a:tcPr>
                </a:tc>
                <a:tc>
                  <a:txBody>
                    <a:bodyPr/>
                    <a:lstStyle/>
                    <a:p>
                      <a:endParaRPr lang="en-IN"/>
                    </a:p>
                  </a:txBody>
                  <a:tcPr marL="51802" marR="51802" marT="25901" marB="25901" anchor="ctr">
                    <a:lnL>
                      <a:noFill/>
                    </a:lnL>
                    <a:lnR>
                      <a:noFill/>
                    </a:lnR>
                    <a:lnT>
                      <a:noFill/>
                    </a:lnT>
                    <a:lnB>
                      <a:noFill/>
                    </a:lnB>
                  </a:tcPr>
                </a:tc>
                <a:extLst>
                  <a:ext uri="{0D108BD9-81ED-4DB2-BD59-A6C34878D82A}">
                    <a16:rowId xmlns:a16="http://schemas.microsoft.com/office/drawing/2014/main" val="10000"/>
                  </a:ext>
                </a:extLst>
              </a:tr>
              <a:tr h="1213722">
                <a:tc>
                  <a:txBody>
                    <a:bodyPr/>
                    <a:lstStyle/>
                    <a:p>
                      <a:endParaRPr lang="en-IN"/>
                    </a:p>
                  </a:txBody>
                  <a:tcPr marL="51802" marR="51802" marT="25901" marB="25901" anchor="ctr">
                    <a:lnL>
                      <a:noFill/>
                    </a:lnL>
                    <a:lnR>
                      <a:noFill/>
                    </a:lnR>
                    <a:lnT>
                      <a:noFill/>
                    </a:lnT>
                    <a:lnB>
                      <a:noFill/>
                    </a:lnB>
                  </a:tcPr>
                </a:tc>
                <a:tc>
                  <a:txBody>
                    <a:bodyPr/>
                    <a:lstStyle/>
                    <a:p>
                      <a:endParaRPr lang="en-IN"/>
                    </a:p>
                  </a:txBody>
                  <a:tcPr marL="51802" marR="51802" marT="25901" marB="25901" anchor="ctr">
                    <a:lnL>
                      <a:noFill/>
                    </a:lnL>
                    <a:lnR>
                      <a:noFill/>
                    </a:lnR>
                    <a:lnT>
                      <a:noFill/>
                    </a:lnT>
                    <a:lnB>
                      <a:noFill/>
                    </a:lnB>
                  </a:tcPr>
                </a:tc>
                <a:tc>
                  <a:txBody>
                    <a:bodyPr/>
                    <a:lstStyle/>
                    <a:p>
                      <a:endParaRPr lang="en-IN"/>
                    </a:p>
                  </a:txBody>
                  <a:tcPr marL="51802" marR="51802" marT="25901" marB="25901" anchor="ctr">
                    <a:lnL>
                      <a:noFill/>
                    </a:lnL>
                    <a:lnR>
                      <a:noFill/>
                    </a:lnR>
                    <a:lnT>
                      <a:noFill/>
                    </a:lnT>
                    <a:lnB>
                      <a:noFill/>
                    </a:lnB>
                  </a:tcPr>
                </a:tc>
                <a:extLst>
                  <a:ext uri="{0D108BD9-81ED-4DB2-BD59-A6C34878D82A}">
                    <a16:rowId xmlns:a16="http://schemas.microsoft.com/office/drawing/2014/main" val="10001"/>
                  </a:ext>
                </a:extLst>
              </a:tr>
              <a:tr h="980871">
                <a:tc>
                  <a:txBody>
                    <a:bodyPr/>
                    <a:lstStyle/>
                    <a:p>
                      <a:endParaRPr lang="en-IN"/>
                    </a:p>
                  </a:txBody>
                  <a:tcPr marL="51802" marR="51802" marT="25901" marB="25901" anchor="ctr">
                    <a:lnL>
                      <a:noFill/>
                    </a:lnL>
                    <a:lnR>
                      <a:noFill/>
                    </a:lnR>
                    <a:lnT>
                      <a:noFill/>
                    </a:lnT>
                    <a:lnB>
                      <a:noFill/>
                    </a:lnB>
                  </a:tcPr>
                </a:tc>
                <a:tc>
                  <a:txBody>
                    <a:bodyPr/>
                    <a:lstStyle/>
                    <a:p>
                      <a:endParaRPr lang="en-IN"/>
                    </a:p>
                  </a:txBody>
                  <a:tcPr marL="51802" marR="51802" marT="25901" marB="25901" anchor="ctr">
                    <a:lnL>
                      <a:noFill/>
                    </a:lnL>
                    <a:lnR>
                      <a:noFill/>
                    </a:lnR>
                    <a:lnT>
                      <a:noFill/>
                    </a:lnT>
                    <a:lnB>
                      <a:noFill/>
                    </a:lnB>
                  </a:tcPr>
                </a:tc>
                <a:tc>
                  <a:txBody>
                    <a:bodyPr/>
                    <a:lstStyle/>
                    <a:p>
                      <a:endParaRPr lang="en-IN"/>
                    </a:p>
                  </a:txBody>
                  <a:tcPr marL="51802" marR="51802" marT="25901" marB="25901" anchor="ctr">
                    <a:lnL>
                      <a:noFill/>
                    </a:lnL>
                    <a:lnR>
                      <a:noFill/>
                    </a:lnR>
                    <a:lnT>
                      <a:noFill/>
                    </a:lnT>
                    <a:lnB>
                      <a:noFill/>
                    </a:lnB>
                  </a:tcPr>
                </a:tc>
                <a:extLst>
                  <a:ext uri="{0D108BD9-81ED-4DB2-BD59-A6C34878D82A}">
                    <a16:rowId xmlns:a16="http://schemas.microsoft.com/office/drawing/2014/main" val="10002"/>
                  </a:ext>
                </a:extLst>
              </a:tr>
              <a:tr h="980871">
                <a:tc>
                  <a:txBody>
                    <a:bodyPr/>
                    <a:lstStyle/>
                    <a:p>
                      <a:endParaRPr lang="en-IN"/>
                    </a:p>
                  </a:txBody>
                  <a:tcPr marL="51802" marR="51802" marT="25901" marB="25901" anchor="ctr">
                    <a:lnL>
                      <a:noFill/>
                    </a:lnL>
                    <a:lnR>
                      <a:noFill/>
                    </a:lnR>
                    <a:lnT>
                      <a:noFill/>
                    </a:lnT>
                    <a:lnB>
                      <a:noFill/>
                    </a:lnB>
                  </a:tcPr>
                </a:tc>
                <a:tc>
                  <a:txBody>
                    <a:bodyPr/>
                    <a:lstStyle/>
                    <a:p>
                      <a:endParaRPr lang="en-IN"/>
                    </a:p>
                  </a:txBody>
                  <a:tcPr marL="51802" marR="51802" marT="25901" marB="25901" anchor="ctr">
                    <a:lnL>
                      <a:noFill/>
                    </a:lnL>
                    <a:lnR>
                      <a:noFill/>
                    </a:lnR>
                    <a:lnT>
                      <a:noFill/>
                    </a:lnT>
                    <a:lnB>
                      <a:noFill/>
                    </a:lnB>
                  </a:tcPr>
                </a:tc>
                <a:tc>
                  <a:txBody>
                    <a:bodyPr/>
                    <a:lstStyle/>
                    <a:p>
                      <a:endParaRPr lang="en-IN"/>
                    </a:p>
                  </a:txBody>
                  <a:tcPr marL="51802" marR="51802" marT="25901" marB="25901" anchor="ctr">
                    <a:lnL>
                      <a:noFill/>
                    </a:lnL>
                    <a:lnR>
                      <a:noFill/>
                    </a:lnR>
                    <a:lnT>
                      <a:noFill/>
                    </a:lnT>
                    <a:lnB>
                      <a:noFill/>
                    </a:lnB>
                  </a:tcPr>
                </a:tc>
                <a:extLst>
                  <a:ext uri="{0D108BD9-81ED-4DB2-BD59-A6C34878D82A}">
                    <a16:rowId xmlns:a16="http://schemas.microsoft.com/office/drawing/2014/main" val="10003"/>
                  </a:ext>
                </a:extLst>
              </a:tr>
              <a:tr h="956613">
                <a:tc>
                  <a:txBody>
                    <a:bodyPr/>
                    <a:lstStyle/>
                    <a:p>
                      <a:endParaRPr lang="en-IN"/>
                    </a:p>
                  </a:txBody>
                  <a:tcPr marL="51802" marR="51802" marT="25901" marB="25901" anchor="ctr">
                    <a:lnL>
                      <a:noFill/>
                    </a:lnL>
                    <a:lnR>
                      <a:noFill/>
                    </a:lnR>
                    <a:lnT>
                      <a:noFill/>
                    </a:lnT>
                    <a:lnB>
                      <a:noFill/>
                    </a:lnB>
                  </a:tcPr>
                </a:tc>
                <a:tc>
                  <a:txBody>
                    <a:bodyPr/>
                    <a:lstStyle/>
                    <a:p>
                      <a:endParaRPr lang="en-IN"/>
                    </a:p>
                  </a:txBody>
                  <a:tcPr marL="51802" marR="51802" marT="25901" marB="25901" anchor="ctr">
                    <a:lnL>
                      <a:noFill/>
                    </a:lnL>
                    <a:lnR>
                      <a:noFill/>
                    </a:lnR>
                    <a:lnT>
                      <a:noFill/>
                    </a:lnT>
                    <a:lnB>
                      <a:noFill/>
                    </a:lnB>
                  </a:tcPr>
                </a:tc>
                <a:tc>
                  <a:txBody>
                    <a:bodyPr/>
                    <a:lstStyle/>
                    <a:p>
                      <a:endParaRPr lang="en-IN"/>
                    </a:p>
                  </a:txBody>
                  <a:tcPr marL="51802" marR="51802" marT="25901" marB="25901" anchor="ctr">
                    <a:lnL>
                      <a:noFill/>
                    </a:lnL>
                    <a:lnR>
                      <a:noFill/>
                    </a:lnR>
                    <a:lnT>
                      <a:noFill/>
                    </a:lnT>
                    <a:lnB>
                      <a:noFill/>
                    </a:lnB>
                  </a:tcPr>
                </a:tc>
                <a:extLst>
                  <a:ext uri="{0D108BD9-81ED-4DB2-BD59-A6C34878D82A}">
                    <a16:rowId xmlns:a16="http://schemas.microsoft.com/office/drawing/2014/main" val="10004"/>
                  </a:ext>
                </a:extLst>
              </a:tr>
              <a:tr h="980871">
                <a:tc>
                  <a:txBody>
                    <a:bodyPr/>
                    <a:lstStyle/>
                    <a:p>
                      <a:endParaRPr lang="en-IN"/>
                    </a:p>
                  </a:txBody>
                  <a:tcPr marL="51802" marR="51802" marT="25901" marB="25901" anchor="ctr">
                    <a:lnL>
                      <a:noFill/>
                    </a:lnL>
                    <a:lnR>
                      <a:noFill/>
                    </a:lnR>
                    <a:lnT>
                      <a:noFill/>
                    </a:lnT>
                    <a:lnB>
                      <a:noFill/>
                    </a:lnB>
                  </a:tcPr>
                </a:tc>
                <a:tc>
                  <a:txBody>
                    <a:bodyPr/>
                    <a:lstStyle/>
                    <a:p>
                      <a:endParaRPr lang="en-IN"/>
                    </a:p>
                  </a:txBody>
                  <a:tcPr marL="51802" marR="51802" marT="25901" marB="25901" anchor="ctr">
                    <a:lnL>
                      <a:noFill/>
                    </a:lnL>
                    <a:lnR>
                      <a:noFill/>
                    </a:lnR>
                    <a:lnT>
                      <a:noFill/>
                    </a:lnT>
                    <a:lnB>
                      <a:noFill/>
                    </a:lnB>
                  </a:tcPr>
                </a:tc>
                <a:tc>
                  <a:txBody>
                    <a:bodyPr/>
                    <a:lstStyle/>
                    <a:p>
                      <a:endParaRPr lang="en-IN"/>
                    </a:p>
                  </a:txBody>
                  <a:tcPr marL="51802" marR="51802" marT="25901" marB="25901" anchor="ctr">
                    <a:lnL>
                      <a:noFill/>
                    </a:lnL>
                    <a:lnR>
                      <a:noFill/>
                    </a:lnR>
                    <a:lnT>
                      <a:noFill/>
                    </a:lnT>
                    <a:lnB>
                      <a:noFill/>
                    </a:lnB>
                  </a:tcPr>
                </a:tc>
                <a:extLst>
                  <a:ext uri="{0D108BD9-81ED-4DB2-BD59-A6C34878D82A}">
                    <a16:rowId xmlns:a16="http://schemas.microsoft.com/office/drawing/2014/main" val="10005"/>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467095679"/>
              </p:ext>
            </p:extLst>
          </p:nvPr>
        </p:nvGraphicFramePr>
        <p:xfrm>
          <a:off x="381000" y="938023"/>
          <a:ext cx="11690928" cy="5794586"/>
        </p:xfrm>
        <a:graphic>
          <a:graphicData uri="http://schemas.openxmlformats.org/drawingml/2006/table">
            <a:tbl>
              <a:tblPr firstRow="1" bandRow="1">
                <a:tableStyleId>{5C22544A-7EE6-4342-B048-85BDC9FD1C3A}</a:tableStyleId>
              </a:tblPr>
              <a:tblGrid>
                <a:gridCol w="4238140">
                  <a:extLst>
                    <a:ext uri="{9D8B030D-6E8A-4147-A177-3AD203B41FA5}">
                      <a16:colId xmlns:a16="http://schemas.microsoft.com/office/drawing/2014/main" val="20000"/>
                    </a:ext>
                  </a:extLst>
                </a:gridCol>
                <a:gridCol w="3951478">
                  <a:extLst>
                    <a:ext uri="{9D8B030D-6E8A-4147-A177-3AD203B41FA5}">
                      <a16:colId xmlns:a16="http://schemas.microsoft.com/office/drawing/2014/main" val="20001"/>
                    </a:ext>
                  </a:extLst>
                </a:gridCol>
                <a:gridCol w="3501310">
                  <a:extLst>
                    <a:ext uri="{9D8B030D-6E8A-4147-A177-3AD203B41FA5}">
                      <a16:colId xmlns:a16="http://schemas.microsoft.com/office/drawing/2014/main" val="20002"/>
                    </a:ext>
                  </a:extLst>
                </a:gridCol>
              </a:tblGrid>
              <a:tr h="0">
                <a:tc>
                  <a:txBody>
                    <a:bodyPr/>
                    <a:lstStyle/>
                    <a:p>
                      <a:r>
                        <a:rPr lang="en-IN" b="1"/>
                        <a:t>Author &amp; Title</a:t>
                      </a:r>
                      <a:endParaRPr lang="en-IN"/>
                    </a:p>
                  </a:txBody>
                  <a:tcPr anchor="ctr"/>
                </a:tc>
                <a:tc>
                  <a:txBody>
                    <a:bodyPr/>
                    <a:lstStyle/>
                    <a:p>
                      <a:r>
                        <a:rPr lang="en-IN" b="1"/>
                        <a:t>Year &amp; Journal</a:t>
                      </a:r>
                      <a:endParaRPr lang="en-IN"/>
                    </a:p>
                  </a:txBody>
                  <a:tcPr anchor="ctr"/>
                </a:tc>
                <a:tc>
                  <a:txBody>
                    <a:bodyPr/>
                    <a:lstStyle/>
                    <a:p>
                      <a:r>
                        <a:rPr lang="en-IN"/>
                        <a:t>Outcome of Research</a:t>
                      </a:r>
                    </a:p>
                  </a:txBody>
                  <a:tcPr/>
                </a:tc>
                <a:extLst>
                  <a:ext uri="{0D108BD9-81ED-4DB2-BD59-A6C34878D82A}">
                    <a16:rowId xmlns:a16="http://schemas.microsoft.com/office/drawing/2014/main" val="10000"/>
                  </a:ext>
                </a:extLst>
              </a:tr>
              <a:tr h="1958627">
                <a:tc>
                  <a:txBody>
                    <a:bodyPr/>
                    <a:lstStyle/>
                    <a:p>
                      <a:r>
                        <a:rPr lang="en-US" b="1"/>
                        <a:t>Rao et al.</a:t>
                      </a:r>
                      <a:r>
                        <a:rPr lang="en-US"/>
                        <a:t> </a:t>
                      </a:r>
                      <a:br>
                        <a:rPr lang="en-US"/>
                      </a:br>
                      <a:r>
                        <a:rPr lang="en-US" i="1"/>
                        <a:t>Machine Learning-based Prognosis of Wilson’s Disease</a:t>
                      </a:r>
                      <a:endParaRPr lang="en-IN"/>
                    </a:p>
                  </a:txBody>
                  <a:tcPr/>
                </a:tc>
                <a:tc>
                  <a:txBody>
                    <a:bodyPr/>
                    <a:lstStyle/>
                    <a:p>
                      <a:r>
                        <a:rPr lang="en-IN" b="1"/>
                        <a:t>2020</a:t>
                      </a:r>
                      <a:r>
                        <a:rPr lang="en-IN"/>
                        <a:t> </a:t>
                      </a:r>
                      <a:br>
                        <a:rPr lang="en-IN"/>
                      </a:br>
                      <a:r>
                        <a:rPr lang="en-IN"/>
                        <a:t>Medical Informatics</a:t>
                      </a:r>
                    </a:p>
                  </a:txBody>
                  <a:tcPr/>
                </a:tc>
                <a:tc>
                  <a:txBody>
                    <a:bodyPr/>
                    <a:lstStyle/>
                    <a:p>
                      <a:r>
                        <a:rPr lang="en-US"/>
                        <a:t>➤ Studied prognosis of WD using ML on 3,692 patient records. </a:t>
                      </a:r>
                      <a:br>
                        <a:rPr lang="en-US"/>
                      </a:br>
                      <a:r>
                        <a:rPr lang="en-US"/>
                        <a:t>➤ </a:t>
                      </a:r>
                      <a:r>
                        <a:rPr lang="en-US" err="1"/>
                        <a:t>XGBoost</a:t>
                      </a:r>
                      <a:r>
                        <a:rPr lang="en-US"/>
                        <a:t> achieved best performance with </a:t>
                      </a:r>
                      <a:r>
                        <a:rPr lang="en-US" b="1"/>
                        <a:t>96.8% accuracy</a:t>
                      </a:r>
                      <a:r>
                        <a:rPr lang="en-US"/>
                        <a:t> and </a:t>
                      </a:r>
                      <a:r>
                        <a:rPr lang="en-US" b="1"/>
                        <a:t>0.998 AUC</a:t>
                      </a:r>
                      <a:r>
                        <a:rPr lang="en-US"/>
                        <a:t> for liver damage prediction.</a:t>
                      </a:r>
                      <a:endParaRPr lang="en-IN"/>
                    </a:p>
                  </a:txBody>
                  <a:tcPr/>
                </a:tc>
                <a:extLst>
                  <a:ext uri="{0D108BD9-81ED-4DB2-BD59-A6C34878D82A}">
                    <a16:rowId xmlns:a16="http://schemas.microsoft.com/office/drawing/2014/main" val="10001"/>
                  </a:ext>
                </a:extLst>
              </a:tr>
              <a:tr h="1732839">
                <a:tc>
                  <a:txBody>
                    <a:bodyPr/>
                    <a:lstStyle/>
                    <a:p>
                      <a:r>
                        <a:rPr lang="en-US" b="1"/>
                        <a:t>Saba et al.</a:t>
                      </a:r>
                      <a:r>
                        <a:rPr lang="en-US"/>
                        <a:t> </a:t>
                      </a:r>
                      <a:br>
                        <a:rPr lang="en-US"/>
                      </a:br>
                      <a:r>
                        <a:rPr lang="en-US" i="1"/>
                        <a:t>Brain MRI-based WD Tissue Classification using Deep Transfer Learning</a:t>
                      </a:r>
                      <a:endParaRPr lang="en-IN"/>
                    </a:p>
                  </a:txBody>
                  <a:tcPr/>
                </a:tc>
                <a:tc>
                  <a:txBody>
                    <a:bodyPr/>
                    <a:lstStyle/>
                    <a:p>
                      <a:r>
                        <a:rPr lang="en-US" b="1"/>
                        <a:t>2021</a:t>
                      </a:r>
                      <a:r>
                        <a:rPr lang="en-US"/>
                        <a:t> </a:t>
                      </a:r>
                      <a:br>
                        <a:rPr lang="en-US"/>
                      </a:br>
                      <a:r>
                        <a:rPr lang="en-US"/>
                        <a:t>Computers in Biology and Medicine</a:t>
                      </a:r>
                      <a:endParaRPr lang="en-IN"/>
                    </a:p>
                  </a:txBody>
                  <a:tcPr/>
                </a:tc>
                <a:tc>
                  <a:txBody>
                    <a:bodyPr/>
                    <a:lstStyle/>
                    <a:p>
                      <a:r>
                        <a:rPr lang="en-US"/>
                        <a:t>➤ Used </a:t>
                      </a:r>
                      <a:r>
                        <a:rPr lang="en-US" err="1"/>
                        <a:t>MobileNet</a:t>
                      </a:r>
                      <a:r>
                        <a:rPr lang="en-US"/>
                        <a:t> and VGG-19 for WD tissue classification from MRI. </a:t>
                      </a:r>
                      <a:br>
                        <a:rPr lang="en-US"/>
                      </a:br>
                      <a:r>
                        <a:rPr lang="en-US"/>
                        <a:t>➤ </a:t>
                      </a:r>
                      <a:r>
                        <a:rPr lang="en-US" b="1"/>
                        <a:t>VGG-19 outperformed </a:t>
                      </a:r>
                      <a:r>
                        <a:rPr lang="en-US" b="1" err="1"/>
                        <a:t>MobileNet</a:t>
                      </a:r>
                      <a:r>
                        <a:rPr lang="en-US"/>
                        <a:t> with </a:t>
                      </a:r>
                      <a:r>
                        <a:rPr lang="en-US" b="1"/>
                        <a:t>95.46% accuracy</a:t>
                      </a:r>
                      <a:r>
                        <a:rPr lang="en-US"/>
                        <a:t> and </a:t>
                      </a:r>
                      <a:r>
                        <a:rPr lang="en-US" b="1"/>
                        <a:t>0.932 AUC</a:t>
                      </a:r>
                      <a:r>
                        <a:rPr lang="en-US"/>
                        <a:t>.</a:t>
                      </a:r>
                      <a:endParaRPr lang="en-IN"/>
                    </a:p>
                  </a:txBody>
                  <a:tcPr/>
                </a:tc>
                <a:extLst>
                  <a:ext uri="{0D108BD9-81ED-4DB2-BD59-A6C34878D82A}">
                    <a16:rowId xmlns:a16="http://schemas.microsoft.com/office/drawing/2014/main" val="10002"/>
                  </a:ext>
                </a:extLst>
              </a:tr>
              <a:tr h="1732839">
                <a:tc>
                  <a:txBody>
                    <a:bodyPr/>
                    <a:lstStyle/>
                    <a:p>
                      <a:r>
                        <a:rPr lang="en-US" b="1"/>
                        <a:t>Salman et al.</a:t>
                      </a:r>
                      <a:r>
                        <a:rPr lang="en-US"/>
                        <a:t> </a:t>
                      </a:r>
                      <a:br>
                        <a:rPr lang="en-US"/>
                      </a:br>
                      <a:r>
                        <a:rPr lang="en-US" i="1"/>
                        <a:t>Diagnostic Accuracy of Biochemical Tests in Wilson’s Disease</a:t>
                      </a:r>
                      <a:endParaRPr lang="en-IN"/>
                    </a:p>
                  </a:txBody>
                  <a:tcPr/>
                </a:tc>
                <a:tc>
                  <a:txBody>
                    <a:bodyPr/>
                    <a:lstStyle/>
                    <a:p>
                      <a:r>
                        <a:rPr lang="en-IN" b="1"/>
                        <a:t>2019</a:t>
                      </a:r>
                      <a:r>
                        <a:rPr lang="en-IN"/>
                        <a:t> </a:t>
                      </a:r>
                      <a:br>
                        <a:rPr lang="en-IN"/>
                      </a:br>
                      <a:r>
                        <a:rPr lang="en-IN"/>
                        <a:t>Journal of </a:t>
                      </a:r>
                      <a:r>
                        <a:rPr lang="en-IN" err="1"/>
                        <a:t>Hepatology</a:t>
                      </a:r>
                      <a:endParaRPr lang="en-IN"/>
                    </a:p>
                  </a:txBody>
                  <a:tcPr/>
                </a:tc>
                <a:tc>
                  <a:txBody>
                    <a:bodyPr/>
                    <a:lstStyle/>
                    <a:p>
                      <a:r>
                        <a:rPr lang="en-US"/>
                        <a:t>➤ Evaluated CP, urinary copper, and hepatic copper using Leipzig criteria. </a:t>
                      </a:r>
                      <a:br>
                        <a:rPr lang="en-US"/>
                      </a:br>
                      <a:r>
                        <a:rPr lang="en-US"/>
                        <a:t>➤ Hepatic copper test showed </a:t>
                      </a:r>
                      <a:r>
                        <a:rPr lang="en-US" b="1"/>
                        <a:t>95.4% specificity</a:t>
                      </a:r>
                      <a:r>
                        <a:rPr lang="en-US"/>
                        <a:t> and </a:t>
                      </a:r>
                      <a:r>
                        <a:rPr lang="en-US" b="1"/>
                        <a:t>96.4% sensitivity</a:t>
                      </a:r>
                      <a:r>
                        <a:rPr lang="en-US"/>
                        <a:t>.</a:t>
                      </a:r>
                      <a:endParaRPr lang="en-IN"/>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7560910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272452009"/>
              </p:ext>
            </p:extLst>
          </p:nvPr>
        </p:nvGraphicFramePr>
        <p:xfrm>
          <a:off x="738909" y="1145309"/>
          <a:ext cx="10898911" cy="4045527"/>
        </p:xfrm>
        <a:graphic>
          <a:graphicData uri="http://schemas.openxmlformats.org/drawingml/2006/table">
            <a:tbl>
              <a:tblPr firstRow="1" bandRow="1">
                <a:tableStyleId>{5C22544A-7EE6-4342-B048-85BDC9FD1C3A}</a:tableStyleId>
              </a:tblPr>
              <a:tblGrid>
                <a:gridCol w="3776377">
                  <a:extLst>
                    <a:ext uri="{9D8B030D-6E8A-4147-A177-3AD203B41FA5}">
                      <a16:colId xmlns:a16="http://schemas.microsoft.com/office/drawing/2014/main" val="20000"/>
                    </a:ext>
                  </a:extLst>
                </a:gridCol>
                <a:gridCol w="3776377">
                  <a:extLst>
                    <a:ext uri="{9D8B030D-6E8A-4147-A177-3AD203B41FA5}">
                      <a16:colId xmlns:a16="http://schemas.microsoft.com/office/drawing/2014/main" val="20001"/>
                    </a:ext>
                  </a:extLst>
                </a:gridCol>
                <a:gridCol w="3346157">
                  <a:extLst>
                    <a:ext uri="{9D8B030D-6E8A-4147-A177-3AD203B41FA5}">
                      <a16:colId xmlns:a16="http://schemas.microsoft.com/office/drawing/2014/main" val="20002"/>
                    </a:ext>
                  </a:extLst>
                </a:gridCol>
              </a:tblGrid>
              <a:tr h="2395890">
                <a:tc>
                  <a:txBody>
                    <a:bodyPr/>
                    <a:lstStyle/>
                    <a:p>
                      <a:r>
                        <a:rPr lang="en-US" b="1"/>
                        <a:t>Wang et al.</a:t>
                      </a:r>
                      <a:r>
                        <a:rPr lang="en-US"/>
                        <a:t> </a:t>
                      </a:r>
                      <a:br>
                        <a:rPr lang="en-US"/>
                      </a:br>
                      <a:r>
                        <a:rPr lang="en-US" i="1"/>
                        <a:t>Prediction of Neurological Deterioration in WD using ML and MRI </a:t>
                      </a:r>
                      <a:r>
                        <a:rPr lang="en-US" i="1" err="1"/>
                        <a:t>Radiomics</a:t>
                      </a:r>
                      <a:endParaRPr lang="en-IN"/>
                    </a:p>
                  </a:txBody>
                  <a:tcPr/>
                </a:tc>
                <a:tc>
                  <a:txBody>
                    <a:bodyPr/>
                    <a:lstStyle/>
                    <a:p>
                      <a:r>
                        <a:rPr lang="en-IN" b="1"/>
                        <a:t>2022</a:t>
                      </a:r>
                      <a:r>
                        <a:rPr lang="en-IN"/>
                        <a:t> </a:t>
                      </a:r>
                      <a:br>
                        <a:rPr lang="en-IN"/>
                      </a:br>
                      <a:r>
                        <a:rPr lang="en-IN"/>
                        <a:t>IEEE Access</a:t>
                      </a:r>
                    </a:p>
                  </a:txBody>
                  <a:tcPr/>
                </a:tc>
                <a:tc>
                  <a:txBody>
                    <a:bodyPr/>
                    <a:lstStyle/>
                    <a:p>
                      <a:r>
                        <a:rPr lang="en-US"/>
                        <a:t>➤ Combined clinical features with MRI </a:t>
                      </a:r>
                      <a:r>
                        <a:rPr lang="en-US" err="1"/>
                        <a:t>radiomics</a:t>
                      </a:r>
                      <a:r>
                        <a:rPr lang="en-US"/>
                        <a:t>. </a:t>
                      </a:r>
                      <a:br>
                        <a:rPr lang="en-US"/>
                      </a:br>
                      <a:r>
                        <a:rPr lang="en-US"/>
                        <a:t>➤ </a:t>
                      </a:r>
                      <a:r>
                        <a:rPr lang="en-US" err="1"/>
                        <a:t>XGBoost</a:t>
                      </a:r>
                      <a:r>
                        <a:rPr lang="en-US"/>
                        <a:t> achieved </a:t>
                      </a:r>
                      <a:r>
                        <a:rPr lang="en-US" b="1"/>
                        <a:t>0.94–0.96 AUC</a:t>
                      </a:r>
                      <a:r>
                        <a:rPr lang="en-US"/>
                        <a:t>; SHAP used for model </a:t>
                      </a:r>
                      <a:r>
                        <a:rPr lang="en-US" err="1"/>
                        <a:t>explainability</a:t>
                      </a:r>
                      <a:r>
                        <a:rPr lang="en-US"/>
                        <a:t>.</a:t>
                      </a:r>
                      <a:endParaRPr lang="en-IN"/>
                    </a:p>
                  </a:txBody>
                  <a:tcPr/>
                </a:tc>
                <a:extLst>
                  <a:ext uri="{0D108BD9-81ED-4DB2-BD59-A6C34878D82A}">
                    <a16:rowId xmlns:a16="http://schemas.microsoft.com/office/drawing/2014/main" val="10000"/>
                  </a:ext>
                </a:extLst>
              </a:tr>
              <a:tr h="1649637">
                <a:tc>
                  <a:txBody>
                    <a:bodyPr/>
                    <a:lstStyle/>
                    <a:p>
                      <a:r>
                        <a:rPr lang="en-IN" b="1"/>
                        <a:t>Agarwal et al.</a:t>
                      </a:r>
                      <a:r>
                        <a:rPr lang="en-IN"/>
                        <a:t> </a:t>
                      </a:r>
                      <a:br>
                        <a:rPr lang="en-IN"/>
                      </a:br>
                      <a:r>
                        <a:rPr lang="en-IN" i="1"/>
                        <a:t>Improved Deep CNN for WD Diagnosis</a:t>
                      </a:r>
                      <a:endParaRPr lang="en-IN"/>
                    </a:p>
                  </a:txBody>
                  <a:tcPr/>
                </a:tc>
                <a:tc>
                  <a:txBody>
                    <a:bodyPr/>
                    <a:lstStyle/>
                    <a:p>
                      <a:r>
                        <a:rPr lang="en-IN" b="1"/>
                        <a:t>2021</a:t>
                      </a:r>
                      <a:r>
                        <a:rPr lang="en-IN"/>
                        <a:t> </a:t>
                      </a:r>
                      <a:br>
                        <a:rPr lang="en-IN"/>
                      </a:br>
                      <a:r>
                        <a:rPr lang="en-IN"/>
                        <a:t>Neural Computing &amp; Applications</a:t>
                      </a:r>
                    </a:p>
                  </a:txBody>
                  <a:tcPr/>
                </a:tc>
                <a:tc>
                  <a:txBody>
                    <a:bodyPr/>
                    <a:lstStyle/>
                    <a:p>
                      <a:r>
                        <a:rPr lang="en-US"/>
                        <a:t>➤ Proposed improved DCNN with modified </a:t>
                      </a:r>
                      <a:r>
                        <a:rPr lang="en-US" err="1"/>
                        <a:t>ReLU</a:t>
                      </a:r>
                      <a:r>
                        <a:rPr lang="en-US"/>
                        <a:t> activation. </a:t>
                      </a:r>
                      <a:br>
                        <a:rPr lang="en-US"/>
                      </a:br>
                      <a:r>
                        <a:rPr lang="en-US"/>
                        <a:t>➤ Achieved </a:t>
                      </a:r>
                      <a:r>
                        <a:rPr lang="en-US" b="1"/>
                        <a:t>98.28% accuracy</a:t>
                      </a:r>
                      <a:r>
                        <a:rPr lang="en-US"/>
                        <a:t> and </a:t>
                      </a:r>
                      <a:r>
                        <a:rPr lang="en-US" b="1"/>
                        <a:t>0.99 AUC</a:t>
                      </a:r>
                      <a:r>
                        <a:rPr lang="en-US"/>
                        <a:t>, outperforming Inception-V3.</a:t>
                      </a:r>
                      <a:endParaRPr lang="en-IN"/>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0688610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23703"/>
          </a:xfrm>
        </p:spPr>
        <p:txBody>
          <a:bodyPr>
            <a:normAutofit/>
          </a:bodyPr>
          <a:lstStyle/>
          <a:p>
            <a:r>
              <a:rPr lang="en-US" sz="2400" b="1">
                <a:solidFill>
                  <a:srgbClr val="2E75B6"/>
                </a:solidFill>
                <a:latin typeface="Times New Roman"/>
                <a:cs typeface="Times New Roman"/>
              </a:rPr>
              <a:t>Existing Problem</a:t>
            </a:r>
            <a:endParaRPr lang="en-IN" sz="2400" b="1">
              <a:solidFill>
                <a:srgbClr val="2E75B6"/>
              </a:solidFill>
              <a:latin typeface="Times New Roman"/>
              <a:cs typeface="Times New Roman"/>
            </a:endParaRPr>
          </a:p>
        </p:txBody>
      </p:sp>
      <p:sp>
        <p:nvSpPr>
          <p:cNvPr id="3" name="Content Placeholder 2"/>
          <p:cNvSpPr>
            <a:spLocks noGrp="1"/>
          </p:cNvSpPr>
          <p:nvPr>
            <p:ph idx="1"/>
          </p:nvPr>
        </p:nvSpPr>
        <p:spPr>
          <a:xfrm>
            <a:off x="838200" y="1116419"/>
            <a:ext cx="10515600" cy="5060544"/>
          </a:xfrm>
        </p:spPr>
        <p:txBody>
          <a:bodyPr vert="horz" lIns="91440" tIns="45720" rIns="91440" bIns="45720" rtlCol="0" anchor="t">
            <a:normAutofit fontScale="92500" lnSpcReduction="20000"/>
          </a:bodyPr>
          <a:lstStyle/>
          <a:p>
            <a:pPr marL="0" indent="0">
              <a:buNone/>
            </a:pPr>
            <a:r>
              <a:rPr lang="en-US" sz="2000">
                <a:latin typeface="Times New Roman"/>
                <a:cs typeface="Times New Roman"/>
              </a:rPr>
              <a:t>1.</a:t>
            </a:r>
            <a:r>
              <a:rPr lang="en-US" sz="2000" b="1">
                <a:latin typeface="Times New Roman"/>
                <a:cs typeface="Times New Roman"/>
              </a:rPr>
              <a:t> Incomplete Multimodal Integration</a:t>
            </a:r>
            <a:endParaRPr lang="en-US" sz="2000">
              <a:ea typeface="Calibri" panose="020F0502020204030204"/>
              <a:cs typeface="Calibri" panose="020F0502020204030204"/>
            </a:endParaRPr>
          </a:p>
          <a:p>
            <a:pPr>
              <a:lnSpc>
                <a:spcPct val="100000"/>
              </a:lnSpc>
              <a:buFont typeface="Wingdings" panose="020B0604020202020204" pitchFamily="34" charset="0"/>
              <a:buChar char="Ø"/>
            </a:pPr>
            <a:r>
              <a:rPr lang="en-US" sz="2000">
                <a:latin typeface="Times New Roman" panose="02020603050405020304" pitchFamily="18" charset="0"/>
                <a:cs typeface="Times New Roman" panose="02020603050405020304" pitchFamily="18" charset="0"/>
              </a:rPr>
              <a:t>MRI, biochemical, clinical, and demographic data are analyzed separately.</a:t>
            </a:r>
          </a:p>
          <a:p>
            <a:pPr>
              <a:lnSpc>
                <a:spcPct val="100000"/>
              </a:lnSpc>
              <a:buFont typeface="Wingdings" panose="020B0604020202020204" pitchFamily="34" charset="0"/>
              <a:buChar char="Ø"/>
            </a:pPr>
            <a:r>
              <a:rPr lang="en-US" sz="2000">
                <a:latin typeface="Times New Roman"/>
                <a:cs typeface="Times New Roman"/>
              </a:rPr>
              <a:t>No unified system combines all modalities for holistic prediction.</a:t>
            </a:r>
          </a:p>
          <a:p>
            <a:pPr marL="0" indent="0">
              <a:buNone/>
            </a:pPr>
            <a:r>
              <a:rPr lang="en-US" sz="2000">
                <a:latin typeface="Times New Roman"/>
                <a:cs typeface="Times New Roman"/>
              </a:rPr>
              <a:t>2. </a:t>
            </a:r>
            <a:r>
              <a:rPr lang="en-US" sz="2000" b="1">
                <a:latin typeface="Times New Roman"/>
                <a:cs typeface="Times New Roman"/>
              </a:rPr>
              <a:t>Limitations of Existing ML/DL Models</a:t>
            </a:r>
          </a:p>
          <a:p>
            <a:pPr>
              <a:buFont typeface="Wingdings" panose="020B0604020202020204" pitchFamily="34" charset="0"/>
              <a:buChar char="Ø"/>
            </a:pPr>
            <a:r>
              <a:rPr lang="en-US" sz="2000">
                <a:latin typeface="Times New Roman" panose="02020603050405020304" pitchFamily="18" charset="0"/>
                <a:cs typeface="Times New Roman" panose="02020603050405020304" pitchFamily="18" charset="0"/>
              </a:rPr>
              <a:t>Cannot effectively capture temporal disease progression.</a:t>
            </a:r>
          </a:p>
          <a:p>
            <a:pPr>
              <a:buFont typeface="Wingdings" panose="020B0604020202020204" pitchFamily="34" charset="0"/>
              <a:buChar char="Ø"/>
            </a:pPr>
            <a:r>
              <a:rPr lang="en-US" sz="2000">
                <a:latin typeface="Times New Roman" panose="02020603050405020304" pitchFamily="18" charset="0"/>
                <a:cs typeface="Times New Roman" panose="02020603050405020304" pitchFamily="18" charset="0"/>
              </a:rPr>
              <a:t>Limited feature interaction learning.</a:t>
            </a:r>
          </a:p>
          <a:p>
            <a:pPr>
              <a:buFont typeface="Wingdings" panose="020B0604020202020204" pitchFamily="34" charset="0"/>
              <a:buChar char="Ø"/>
            </a:pPr>
            <a:r>
              <a:rPr lang="en-US" sz="2000">
                <a:latin typeface="Times New Roman"/>
                <a:cs typeface="Times New Roman"/>
              </a:rPr>
              <a:t>Risk of overfitting on small or imbalanced datasets.</a:t>
            </a:r>
          </a:p>
          <a:p>
            <a:r>
              <a:rPr lang="en-US" sz="2000">
                <a:latin typeface="Times New Roman"/>
                <a:cs typeface="Times New Roman"/>
              </a:rPr>
              <a:t>3.</a:t>
            </a:r>
            <a:r>
              <a:rPr lang="en-US" sz="2000" b="1">
                <a:latin typeface="Times New Roman"/>
                <a:cs typeface="Times New Roman"/>
              </a:rPr>
              <a:t> Inefficient Feature Handling</a:t>
            </a:r>
          </a:p>
          <a:p>
            <a:pPr marL="285750" indent="-285750">
              <a:buFont typeface="Wingdings" panose="05000000000000000000" pitchFamily="2" charset="2"/>
              <a:buChar char="Ø"/>
            </a:pPr>
            <a:r>
              <a:rPr lang="en-US" sz="2000">
                <a:latin typeface="Times New Roman" panose="02020603050405020304" pitchFamily="18" charset="0"/>
                <a:cs typeface="Times New Roman" panose="02020603050405020304" pitchFamily="18" charset="0"/>
              </a:rPr>
              <a:t>Presence of redundant and noisy features.</a:t>
            </a:r>
          </a:p>
          <a:p>
            <a:pPr marL="285750" indent="-285750">
              <a:buFont typeface="Wingdings" panose="05000000000000000000" pitchFamily="2" charset="2"/>
              <a:buChar char="Ø"/>
            </a:pPr>
            <a:r>
              <a:rPr lang="en-US" sz="2000">
                <a:latin typeface="Times New Roman" panose="02020603050405020304" pitchFamily="18" charset="0"/>
                <a:cs typeface="Times New Roman" panose="02020603050405020304" pitchFamily="18" charset="0"/>
              </a:rPr>
              <a:t>No advanced feature selection mechanisms.</a:t>
            </a:r>
          </a:p>
          <a:p>
            <a:pPr marL="285750" indent="-285750">
              <a:buFont typeface="Wingdings" panose="05000000000000000000" pitchFamily="2" charset="2"/>
              <a:buChar char="Ø"/>
            </a:pPr>
            <a:r>
              <a:rPr lang="en-US" sz="2000">
                <a:latin typeface="Times New Roman" panose="02020603050405020304" pitchFamily="18" charset="0"/>
                <a:cs typeface="Times New Roman" panose="02020603050405020304" pitchFamily="18" charset="0"/>
              </a:rPr>
              <a:t>Increased computational cost and reduced efficiency.</a:t>
            </a:r>
          </a:p>
          <a:p>
            <a:r>
              <a:rPr lang="en-US" sz="2000">
                <a:latin typeface="Times New Roman"/>
                <a:cs typeface="Times New Roman"/>
              </a:rPr>
              <a:t>4.</a:t>
            </a:r>
            <a:r>
              <a:rPr lang="en-IN" sz="2000">
                <a:latin typeface="Times New Roman"/>
                <a:cs typeface="Times New Roman"/>
              </a:rPr>
              <a:t> </a:t>
            </a:r>
            <a:r>
              <a:rPr lang="en-IN" sz="2000" b="1">
                <a:latin typeface="Times New Roman"/>
                <a:cs typeface="Times New Roman"/>
              </a:rPr>
              <a:t>Lack of Explainability</a:t>
            </a:r>
          </a:p>
          <a:p>
            <a:pPr marL="285750" indent="-285750">
              <a:buFont typeface="Wingdings" panose="05000000000000000000" pitchFamily="2" charset="2"/>
              <a:buChar char="Ø"/>
            </a:pPr>
            <a:r>
              <a:rPr lang="en-US" sz="2000">
                <a:latin typeface="Times New Roman" panose="02020603050405020304" pitchFamily="18" charset="0"/>
                <a:cs typeface="Times New Roman" panose="02020603050405020304" pitchFamily="18" charset="0"/>
              </a:rPr>
              <a:t>Models behave like black boxes.</a:t>
            </a:r>
          </a:p>
          <a:p>
            <a:pPr marL="285750" indent="-285750">
              <a:buFont typeface="Wingdings" panose="05000000000000000000" pitchFamily="2" charset="2"/>
              <a:buChar char="Ø"/>
            </a:pPr>
            <a:r>
              <a:rPr lang="en-US" sz="2000">
                <a:latin typeface="Times New Roman" panose="02020603050405020304" pitchFamily="18" charset="0"/>
                <a:cs typeface="Times New Roman" panose="02020603050405020304" pitchFamily="18" charset="0"/>
              </a:rPr>
              <a:t>Difficult for clinicians to understand prediction reasoning.</a:t>
            </a:r>
          </a:p>
          <a:p>
            <a:pPr marL="285750" indent="-285750">
              <a:buFont typeface="Wingdings" panose="05000000000000000000" pitchFamily="2" charset="2"/>
              <a:buChar char="Ø"/>
            </a:pPr>
            <a:r>
              <a:rPr lang="en-US" sz="2000">
                <a:latin typeface="Times New Roman" panose="02020603050405020304" pitchFamily="18" charset="0"/>
                <a:cs typeface="Times New Roman" panose="02020603050405020304" pitchFamily="18" charset="0"/>
              </a:rPr>
              <a:t>Reduced clinical trust and adoption.</a:t>
            </a:r>
          </a:p>
          <a:p>
            <a:pPr marL="0" indent="0">
              <a:buNone/>
            </a:pPr>
            <a:endParaRPr lang="en-US" sz="2000">
              <a:latin typeface="Times New Roman"/>
              <a:cs typeface="Times New Roman"/>
            </a:endParaRPr>
          </a:p>
          <a:p>
            <a:pPr marL="0" indent="0">
              <a:buNone/>
            </a:pPr>
            <a:endParaRPr lang="en-US" b="1"/>
          </a:p>
          <a:p>
            <a:pPr marL="0" indent="0">
              <a:lnSpc>
                <a:spcPct val="100000"/>
              </a:lnSpc>
              <a:buNone/>
            </a:pPr>
            <a:endParaRPr lang="en-US"/>
          </a:p>
          <a:p>
            <a:pPr>
              <a:lnSpc>
                <a:spcPct val="100000"/>
              </a:lnSpc>
              <a:buFont typeface="Wingdings" panose="020B0604020202020204" pitchFamily="34" charset="0"/>
              <a:buChar char="Ø"/>
            </a:pPr>
            <a:endParaRPr lang="en-US">
              <a:ea typeface="Calibri" panose="020F0502020204030204"/>
              <a:cs typeface="Calibri" panose="020F0502020204030204"/>
            </a:endParaRPr>
          </a:p>
        </p:txBody>
      </p:sp>
    </p:spTree>
    <p:extLst>
      <p:ext uri="{BB962C8B-B14F-4D97-AF65-F5344CB8AC3E}">
        <p14:creationId xmlns:p14="http://schemas.microsoft.com/office/powerpoint/2010/main" val="31254880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74847"/>
          </a:xfrm>
        </p:spPr>
        <p:txBody>
          <a:bodyPr>
            <a:normAutofit/>
          </a:bodyPr>
          <a:lstStyle/>
          <a:p>
            <a:r>
              <a:rPr lang="en-US" sz="2400" b="1">
                <a:solidFill>
                  <a:srgbClr val="2E75B6"/>
                </a:solidFill>
                <a:latin typeface="Times New Roman"/>
                <a:cs typeface="Times New Roman"/>
              </a:rPr>
              <a:t>Proposed Methodology</a:t>
            </a:r>
            <a:r>
              <a:rPr lang="en-US" sz="2400">
                <a:solidFill>
                  <a:srgbClr val="0070C0"/>
                </a:solidFill>
              </a:rPr>
              <a:t> </a:t>
            </a:r>
            <a:endParaRPr lang="en-IN" sz="2400">
              <a:solidFill>
                <a:srgbClr val="0070C0"/>
              </a:solidFill>
            </a:endParaRPr>
          </a:p>
        </p:txBody>
      </p:sp>
      <p:sp>
        <p:nvSpPr>
          <p:cNvPr id="3" name="Content Placeholder 2"/>
          <p:cNvSpPr>
            <a:spLocks noGrp="1"/>
          </p:cNvSpPr>
          <p:nvPr>
            <p:ph idx="1"/>
          </p:nvPr>
        </p:nvSpPr>
        <p:spPr>
          <a:xfrm>
            <a:off x="838200" y="1095153"/>
            <a:ext cx="10515600" cy="5081810"/>
          </a:xfrm>
        </p:spPr>
        <p:txBody>
          <a:bodyPr>
            <a:normAutofit/>
          </a:bodyPr>
          <a:lstStyle/>
          <a:p>
            <a:r>
              <a:rPr lang="en-US" sz="2000"/>
              <a:t>Collected </a:t>
            </a:r>
            <a:r>
              <a:rPr lang="en-US" sz="2000" b="1"/>
              <a:t>MRI, biochemical, clinical, and demographic data</a:t>
            </a:r>
            <a:r>
              <a:rPr lang="en-US" sz="2000"/>
              <a:t> together.</a:t>
            </a:r>
          </a:p>
          <a:p>
            <a:r>
              <a:rPr lang="en-US" sz="2000"/>
              <a:t>Performed </a:t>
            </a:r>
            <a:r>
              <a:rPr lang="en-US" sz="2000" b="1"/>
              <a:t>data preprocessing</a:t>
            </a:r>
            <a:r>
              <a:rPr lang="en-US" sz="2000"/>
              <a:t> (cleaning, normalization, balancing dataset).</a:t>
            </a:r>
          </a:p>
          <a:p>
            <a:r>
              <a:rPr lang="en-US" sz="2000"/>
              <a:t>Applied </a:t>
            </a:r>
            <a:r>
              <a:rPr lang="en-US" sz="2000" b="1"/>
              <a:t>feature selection (</a:t>
            </a:r>
            <a:r>
              <a:rPr lang="en-US" sz="2000" b="1" err="1"/>
              <a:t>HashRFE</a:t>
            </a:r>
            <a:r>
              <a:rPr lang="en-US" sz="2000" b="1"/>
              <a:t>)</a:t>
            </a:r>
            <a:r>
              <a:rPr lang="en-US" sz="2000"/>
              <a:t> to remove unnecessary features.</a:t>
            </a:r>
          </a:p>
          <a:p>
            <a:r>
              <a:rPr lang="en-US" sz="2000"/>
              <a:t>Used </a:t>
            </a:r>
            <a:r>
              <a:rPr lang="en-US" sz="2000" b="1" err="1"/>
              <a:t>SparVAE</a:t>
            </a:r>
            <a:r>
              <a:rPr lang="en-US" sz="2000"/>
              <a:t> to remove noise and compress the data.</a:t>
            </a:r>
          </a:p>
          <a:p>
            <a:r>
              <a:rPr lang="en-US" sz="2000"/>
              <a:t>Developed a </a:t>
            </a:r>
            <a:r>
              <a:rPr lang="en-US" sz="2000" b="1"/>
              <a:t>hybrid model (</a:t>
            </a:r>
            <a:r>
              <a:rPr lang="en-US" sz="2000" b="1" err="1"/>
              <a:t>TabNet</a:t>
            </a:r>
            <a:r>
              <a:rPr lang="en-US" sz="2000" b="1"/>
              <a:t> + TCN + Attention)</a:t>
            </a:r>
            <a:r>
              <a:rPr lang="en-US" sz="2000"/>
              <a:t> for better prediction.</a:t>
            </a:r>
          </a:p>
          <a:p>
            <a:r>
              <a:rPr lang="en-US" sz="2000"/>
              <a:t>Used </a:t>
            </a:r>
            <a:r>
              <a:rPr lang="en-US" sz="2000" b="1"/>
              <a:t>advanced optimization and </a:t>
            </a:r>
            <a:r>
              <a:rPr lang="en-US" sz="2000" b="1" err="1"/>
              <a:t>explainability</a:t>
            </a:r>
            <a:r>
              <a:rPr lang="en-US" sz="2000"/>
              <a:t> to improve accuracy and provide clear feature importance.</a:t>
            </a:r>
          </a:p>
        </p:txBody>
      </p:sp>
    </p:spTree>
    <p:extLst>
      <p:ext uri="{BB962C8B-B14F-4D97-AF65-F5344CB8AC3E}">
        <p14:creationId xmlns:p14="http://schemas.microsoft.com/office/powerpoint/2010/main" val="30677440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3E97F2A-2571-5CFD-702A-F888DB3C7EF5}"/>
              </a:ext>
            </a:extLst>
          </p:cNvPr>
          <p:cNvSpPr txBox="1"/>
          <p:nvPr/>
        </p:nvSpPr>
        <p:spPr>
          <a:xfrm>
            <a:off x="2604977" y="5390707"/>
            <a:ext cx="7060018" cy="369332"/>
          </a:xfrm>
          <a:prstGeom prst="rect">
            <a:avLst/>
          </a:prstGeom>
          <a:noFill/>
        </p:spPr>
        <p:txBody>
          <a:bodyPr wrap="square" rtlCol="0">
            <a:spAutoFit/>
          </a:bodyPr>
          <a:lstStyle/>
          <a:p>
            <a:r>
              <a:rPr lang="en-US"/>
              <a:t>        ARICHITECTURE FOR PROPOSED METHODOLOGY</a:t>
            </a:r>
            <a:endParaRPr lang="en-IN"/>
          </a:p>
        </p:txBody>
      </p:sp>
      <p:pic>
        <p:nvPicPr>
          <p:cNvPr id="12" name="Image 17">
            <a:extLst>
              <a:ext uri="{FF2B5EF4-FFF2-40B4-BE49-F238E27FC236}">
                <a16:creationId xmlns:a16="http://schemas.microsoft.com/office/drawing/2014/main" id="{C4DD95F4-E2AA-0204-4B09-18D77BEE0FB7}"/>
              </a:ext>
            </a:extLst>
          </p:cNvPr>
          <p:cNvPicPr>
            <a:picLocks noGrp="1"/>
          </p:cNvPicPr>
          <p:nvPr>
            <p:ph idx="1"/>
          </p:nvPr>
        </p:nvPicPr>
        <p:blipFill>
          <a:blip r:embed="rId2" cstate="print"/>
          <a:stretch>
            <a:fillRect/>
          </a:stretch>
        </p:blipFill>
        <p:spPr>
          <a:xfrm>
            <a:off x="744279" y="712381"/>
            <a:ext cx="10994066" cy="4582633"/>
          </a:xfrm>
          <a:prstGeom prst="rect">
            <a:avLst/>
          </a:prstGeom>
        </p:spPr>
      </p:pic>
    </p:spTree>
    <p:extLst>
      <p:ext uri="{BB962C8B-B14F-4D97-AF65-F5344CB8AC3E}">
        <p14:creationId xmlns:p14="http://schemas.microsoft.com/office/powerpoint/2010/main" val="35500181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22BBB-AD33-F2D4-49BE-9A9132CD92CA}"/>
              </a:ext>
            </a:extLst>
          </p:cNvPr>
          <p:cNvSpPr>
            <a:spLocks noGrp="1"/>
          </p:cNvSpPr>
          <p:nvPr>
            <p:ph type="title"/>
          </p:nvPr>
        </p:nvSpPr>
        <p:spPr>
          <a:xfrm>
            <a:off x="838200" y="365125"/>
            <a:ext cx="10515600" cy="783191"/>
          </a:xfrm>
        </p:spPr>
        <p:txBody>
          <a:bodyPr>
            <a:normAutofit/>
          </a:bodyPr>
          <a:lstStyle/>
          <a:p>
            <a:r>
              <a:rPr lang="en-US" sz="2400">
                <a:solidFill>
                  <a:schemeClr val="accent1">
                    <a:lumMod val="75000"/>
                  </a:schemeClr>
                </a:solidFill>
                <a:latin typeface="Times New Roman" panose="02020603050405020304" pitchFamily="18" charset="0"/>
                <a:cs typeface="Times New Roman" panose="02020603050405020304" pitchFamily="18" charset="0"/>
              </a:rPr>
              <a:t>Research Objectives </a:t>
            </a:r>
            <a:endParaRPr lang="en-IN" sz="240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6245B88-36EF-64B0-6A55-7AEF4CA1863A}"/>
              </a:ext>
            </a:extLst>
          </p:cNvPr>
          <p:cNvSpPr>
            <a:spLocks noGrp="1"/>
          </p:cNvSpPr>
          <p:nvPr>
            <p:ph idx="1"/>
          </p:nvPr>
        </p:nvSpPr>
        <p:spPr>
          <a:xfrm>
            <a:off x="838200" y="1520456"/>
            <a:ext cx="10515600" cy="4656507"/>
          </a:xfrm>
        </p:spPr>
        <p:txBody>
          <a:bodyPr>
            <a:normAutofit/>
          </a:bodyPr>
          <a:lstStyle/>
          <a:p>
            <a:pPr>
              <a:buFont typeface="Wingdings" panose="05000000000000000000" pitchFamily="2" charset="2"/>
              <a:buChar char="Ø"/>
            </a:pPr>
            <a:r>
              <a:rPr lang="en-US" sz="2200">
                <a:latin typeface="Times New Roman" panose="02020603050405020304" pitchFamily="18" charset="0"/>
                <a:cs typeface="Times New Roman" panose="02020603050405020304" pitchFamily="18" charset="0"/>
              </a:rPr>
              <a:t>To develop a novel </a:t>
            </a:r>
            <a:r>
              <a:rPr lang="en-US" sz="2200" b="1" err="1">
                <a:latin typeface="Times New Roman" panose="02020603050405020304" pitchFamily="18" charset="0"/>
                <a:cs typeface="Times New Roman" panose="02020603050405020304" pitchFamily="18" charset="0"/>
              </a:rPr>
              <a:t>AttenTabTCN</a:t>
            </a:r>
            <a:r>
              <a:rPr lang="en-US" sz="2200" b="1">
                <a:latin typeface="Times New Roman" panose="02020603050405020304" pitchFamily="18" charset="0"/>
                <a:cs typeface="Times New Roman" panose="02020603050405020304" pitchFamily="18" charset="0"/>
              </a:rPr>
              <a:t>-Fuse hybrid model</a:t>
            </a:r>
            <a:r>
              <a:rPr lang="en-US" sz="2200">
                <a:latin typeface="Times New Roman" panose="02020603050405020304" pitchFamily="18" charset="0"/>
                <a:cs typeface="Times New Roman" panose="02020603050405020304" pitchFamily="18" charset="0"/>
              </a:rPr>
              <a:t> for accurate prediction of neurological deterioration using </a:t>
            </a:r>
            <a:r>
              <a:rPr lang="en-US" sz="2200" b="1">
                <a:latin typeface="Times New Roman" panose="02020603050405020304" pitchFamily="18" charset="0"/>
                <a:cs typeface="Times New Roman" panose="02020603050405020304" pitchFamily="18" charset="0"/>
              </a:rPr>
              <a:t>multimodal data (MRI, clinical, biochemical, demographic)</a:t>
            </a:r>
            <a:r>
              <a:rPr lang="en-US" sz="2200">
                <a:latin typeface="Times New Roman" panose="02020603050405020304" pitchFamily="18" charset="0"/>
                <a:cs typeface="Times New Roman" panose="02020603050405020304" pitchFamily="18" charset="0"/>
              </a:rPr>
              <a:t> </a:t>
            </a:r>
          </a:p>
          <a:p>
            <a:pPr>
              <a:buFont typeface="Wingdings" panose="05000000000000000000" pitchFamily="2" charset="2"/>
              <a:buChar char="Ø"/>
            </a:pPr>
            <a:r>
              <a:rPr lang="en-US" sz="2200">
                <a:latin typeface="Times New Roman" panose="02020603050405020304" pitchFamily="18" charset="0"/>
                <a:cs typeface="Times New Roman" panose="02020603050405020304" pitchFamily="18" charset="0"/>
              </a:rPr>
              <a:t>To implement </a:t>
            </a:r>
            <a:r>
              <a:rPr lang="en-US" sz="2200" b="1">
                <a:latin typeface="Times New Roman" panose="02020603050405020304" pitchFamily="18" charset="0"/>
                <a:cs typeface="Times New Roman" panose="02020603050405020304" pitchFamily="18" charset="0"/>
              </a:rPr>
              <a:t>HashRFE feature selection</a:t>
            </a:r>
            <a:r>
              <a:rPr lang="en-US" sz="2200">
                <a:latin typeface="Times New Roman" panose="02020603050405020304" pitchFamily="18" charset="0"/>
                <a:cs typeface="Times New Roman" panose="02020603050405020304" pitchFamily="18" charset="0"/>
              </a:rPr>
              <a:t> for reducing dimensionality and selecting the most relevant features </a:t>
            </a:r>
          </a:p>
          <a:p>
            <a:pPr>
              <a:buFont typeface="Wingdings" panose="05000000000000000000" pitchFamily="2" charset="2"/>
              <a:buChar char="Ø"/>
            </a:pPr>
            <a:r>
              <a:rPr lang="en-US" sz="2200">
                <a:latin typeface="Times New Roman" panose="02020603050405020304" pitchFamily="18" charset="0"/>
                <a:cs typeface="Times New Roman" panose="02020603050405020304" pitchFamily="18" charset="0"/>
              </a:rPr>
              <a:t>To enhance data quality using </a:t>
            </a:r>
            <a:r>
              <a:rPr lang="en-US" sz="2200" b="1" err="1">
                <a:latin typeface="Times New Roman" panose="02020603050405020304" pitchFamily="18" charset="0"/>
                <a:cs typeface="Times New Roman" panose="02020603050405020304" pitchFamily="18" charset="0"/>
              </a:rPr>
              <a:t>SparVAE</a:t>
            </a:r>
            <a:r>
              <a:rPr lang="en-US" sz="2200">
                <a:latin typeface="Times New Roman" panose="02020603050405020304" pitchFamily="18" charset="0"/>
                <a:cs typeface="Times New Roman" panose="02020603050405020304" pitchFamily="18" charset="0"/>
              </a:rPr>
              <a:t> for denoising and efficient feature representation </a:t>
            </a:r>
          </a:p>
          <a:p>
            <a:pPr>
              <a:buFont typeface="Wingdings" panose="05000000000000000000" pitchFamily="2" charset="2"/>
              <a:buChar char="Ø"/>
            </a:pPr>
            <a:r>
              <a:rPr lang="en-US" sz="2200">
                <a:latin typeface="Times New Roman" panose="02020603050405020304" pitchFamily="18" charset="0"/>
                <a:cs typeface="Times New Roman" panose="02020603050405020304" pitchFamily="18" charset="0"/>
              </a:rPr>
              <a:t>To capture both </a:t>
            </a:r>
            <a:r>
              <a:rPr lang="en-US" sz="2200" b="1">
                <a:latin typeface="Times New Roman" panose="02020603050405020304" pitchFamily="18" charset="0"/>
                <a:cs typeface="Times New Roman" panose="02020603050405020304" pitchFamily="18" charset="0"/>
              </a:rPr>
              <a:t>feature interactions (</a:t>
            </a:r>
            <a:r>
              <a:rPr lang="en-US" sz="2200" b="1" err="1">
                <a:latin typeface="Times New Roman" panose="02020603050405020304" pitchFamily="18" charset="0"/>
                <a:cs typeface="Times New Roman" panose="02020603050405020304" pitchFamily="18" charset="0"/>
              </a:rPr>
              <a:t>TabNet</a:t>
            </a:r>
            <a:r>
              <a:rPr lang="en-US" sz="2200" b="1">
                <a:latin typeface="Times New Roman" panose="02020603050405020304" pitchFamily="18" charset="0"/>
                <a:cs typeface="Times New Roman" panose="02020603050405020304" pitchFamily="18" charset="0"/>
              </a:rPr>
              <a:t>)</a:t>
            </a:r>
            <a:r>
              <a:rPr lang="en-US" sz="2200">
                <a:latin typeface="Times New Roman" panose="02020603050405020304" pitchFamily="18" charset="0"/>
                <a:cs typeface="Times New Roman" panose="02020603050405020304" pitchFamily="18" charset="0"/>
              </a:rPr>
              <a:t> and </a:t>
            </a:r>
            <a:r>
              <a:rPr lang="en-US" sz="2200" b="1">
                <a:latin typeface="Times New Roman" panose="02020603050405020304" pitchFamily="18" charset="0"/>
                <a:cs typeface="Times New Roman" panose="02020603050405020304" pitchFamily="18" charset="0"/>
              </a:rPr>
              <a:t>temporal dependencies (TCN)</a:t>
            </a:r>
            <a:r>
              <a:rPr lang="en-US" sz="2200">
                <a:latin typeface="Times New Roman" panose="02020603050405020304" pitchFamily="18" charset="0"/>
                <a:cs typeface="Times New Roman" panose="02020603050405020304" pitchFamily="18" charset="0"/>
              </a:rPr>
              <a:t> in the data </a:t>
            </a:r>
          </a:p>
          <a:p>
            <a:pPr>
              <a:buFont typeface="Wingdings" panose="05000000000000000000" pitchFamily="2" charset="2"/>
              <a:buChar char="Ø"/>
            </a:pPr>
            <a:r>
              <a:rPr lang="en-US" sz="2200">
                <a:latin typeface="Times New Roman" panose="02020603050405020304" pitchFamily="18" charset="0"/>
                <a:cs typeface="Times New Roman" panose="02020603050405020304" pitchFamily="18" charset="0"/>
              </a:rPr>
              <a:t>To improve prediction accuracy using an </a:t>
            </a:r>
            <a:r>
              <a:rPr lang="en-US" sz="2200" b="1">
                <a:latin typeface="Times New Roman" panose="02020603050405020304" pitchFamily="18" charset="0"/>
                <a:cs typeface="Times New Roman" panose="02020603050405020304" pitchFamily="18" charset="0"/>
              </a:rPr>
              <a:t>Attention Fusion mechanism</a:t>
            </a:r>
            <a:r>
              <a:rPr lang="en-US" sz="2200">
                <a:latin typeface="Times New Roman" panose="02020603050405020304" pitchFamily="18" charset="0"/>
                <a:cs typeface="Times New Roman" panose="02020603050405020304" pitchFamily="18" charset="0"/>
              </a:rPr>
              <a:t> </a:t>
            </a:r>
          </a:p>
          <a:p>
            <a:pPr>
              <a:buFont typeface="Wingdings" panose="05000000000000000000" pitchFamily="2" charset="2"/>
              <a:buChar char="Ø"/>
            </a:pPr>
            <a:r>
              <a:rPr lang="en-US" sz="2200">
                <a:latin typeface="Times New Roman" panose="02020603050405020304" pitchFamily="18" charset="0"/>
                <a:cs typeface="Times New Roman" panose="02020603050405020304" pitchFamily="18" charset="0"/>
              </a:rPr>
              <a:t>To provide interpretable results using </a:t>
            </a:r>
            <a:r>
              <a:rPr lang="en-US" sz="2200" b="1" err="1">
                <a:latin typeface="Times New Roman" panose="02020603050405020304" pitchFamily="18" charset="0"/>
                <a:cs typeface="Times New Roman" panose="02020603050405020304" pitchFamily="18" charset="0"/>
              </a:rPr>
              <a:t>XAIShEx</a:t>
            </a:r>
            <a:r>
              <a:rPr lang="en-US" sz="2200" b="1">
                <a:latin typeface="Times New Roman" panose="02020603050405020304" pitchFamily="18" charset="0"/>
                <a:cs typeface="Times New Roman" panose="02020603050405020304" pitchFamily="18" charset="0"/>
              </a:rPr>
              <a:t> (SHAP-based explainability)</a:t>
            </a:r>
            <a:r>
              <a:rPr lang="en-US" sz="2200">
                <a:latin typeface="Times New Roman" panose="02020603050405020304" pitchFamily="18" charset="0"/>
                <a:cs typeface="Times New Roman" panose="02020603050405020304" pitchFamily="18" charset="0"/>
              </a:rPr>
              <a:t> for clinical trust </a:t>
            </a:r>
          </a:p>
          <a:p>
            <a:endParaRPr lang="en-IN"/>
          </a:p>
        </p:txBody>
      </p:sp>
    </p:spTree>
    <p:extLst>
      <p:ext uri="{BB962C8B-B14F-4D97-AF65-F5344CB8AC3E}">
        <p14:creationId xmlns:p14="http://schemas.microsoft.com/office/powerpoint/2010/main" val="2978047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AI-generated content may be incorrect.">
            <a:extLst>
              <a:ext uri="{FF2B5EF4-FFF2-40B4-BE49-F238E27FC236}">
                <a16:creationId xmlns:a16="http://schemas.microsoft.com/office/drawing/2014/main" id="{2107FCE4-D32A-35C6-8B3E-214C119996B1}"/>
              </a:ext>
            </a:extLst>
          </p:cNvPr>
          <p:cNvPicPr>
            <a:picLocks noChangeAspect="1"/>
          </p:cNvPicPr>
          <p:nvPr/>
        </p:nvPicPr>
        <p:blipFill>
          <a:blip r:embed="rId2"/>
          <a:stretch>
            <a:fillRect/>
          </a:stretch>
        </p:blipFill>
        <p:spPr>
          <a:xfrm>
            <a:off x="472345" y="806933"/>
            <a:ext cx="11258510" cy="5799306"/>
          </a:xfrm>
          <a:prstGeom prst="rect">
            <a:avLst/>
          </a:prstGeom>
        </p:spPr>
      </p:pic>
      <p:sp>
        <p:nvSpPr>
          <p:cNvPr id="3" name="TextBox 2">
            <a:extLst>
              <a:ext uri="{FF2B5EF4-FFF2-40B4-BE49-F238E27FC236}">
                <a16:creationId xmlns:a16="http://schemas.microsoft.com/office/drawing/2014/main" id="{4F4D1A53-B2EE-7A31-F93A-1E7120E4F49E}"/>
              </a:ext>
            </a:extLst>
          </p:cNvPr>
          <p:cNvSpPr txBox="1"/>
          <p:nvPr/>
        </p:nvSpPr>
        <p:spPr>
          <a:xfrm>
            <a:off x="0" y="37492"/>
            <a:ext cx="474472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a:solidFill>
                  <a:srgbClr val="2E75B6"/>
                </a:solidFill>
                <a:latin typeface="Times New Roman"/>
                <a:ea typeface="Calibri" panose="020F0502020204030204"/>
                <a:cs typeface="Times New Roman"/>
              </a:rPr>
              <a:t>Implementation</a:t>
            </a:r>
          </a:p>
        </p:txBody>
      </p:sp>
    </p:spTree>
    <p:extLst>
      <p:ext uri="{BB962C8B-B14F-4D97-AF65-F5344CB8AC3E}">
        <p14:creationId xmlns:p14="http://schemas.microsoft.com/office/powerpoint/2010/main" val="1209462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 program&#10;&#10;AI-generated content may be incorrect.">
            <a:extLst>
              <a:ext uri="{FF2B5EF4-FFF2-40B4-BE49-F238E27FC236}">
                <a16:creationId xmlns:a16="http://schemas.microsoft.com/office/drawing/2014/main" id="{25789BDA-9CBA-5D22-F5F2-CB7BAE7B7F15}"/>
              </a:ext>
            </a:extLst>
          </p:cNvPr>
          <p:cNvPicPr>
            <a:picLocks noChangeAspect="1"/>
          </p:cNvPicPr>
          <p:nvPr/>
        </p:nvPicPr>
        <p:blipFill>
          <a:blip r:embed="rId2"/>
          <a:stretch>
            <a:fillRect/>
          </a:stretch>
        </p:blipFill>
        <p:spPr>
          <a:xfrm>
            <a:off x="386522" y="332694"/>
            <a:ext cx="11430001" cy="6181569"/>
          </a:xfrm>
          <a:prstGeom prst="rect">
            <a:avLst/>
          </a:prstGeom>
        </p:spPr>
      </p:pic>
    </p:spTree>
    <p:extLst>
      <p:ext uri="{BB962C8B-B14F-4D97-AF65-F5344CB8AC3E}">
        <p14:creationId xmlns:p14="http://schemas.microsoft.com/office/powerpoint/2010/main" val="8189407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 program&#10;&#10;AI-generated content may be incorrect.">
            <a:extLst>
              <a:ext uri="{FF2B5EF4-FFF2-40B4-BE49-F238E27FC236}">
                <a16:creationId xmlns:a16="http://schemas.microsoft.com/office/drawing/2014/main" id="{C010B18B-1209-577D-7538-30433AC80B55}"/>
              </a:ext>
            </a:extLst>
          </p:cNvPr>
          <p:cNvPicPr>
            <a:picLocks noChangeAspect="1"/>
          </p:cNvPicPr>
          <p:nvPr/>
        </p:nvPicPr>
        <p:blipFill>
          <a:blip r:embed="rId2"/>
          <a:stretch>
            <a:fillRect/>
          </a:stretch>
        </p:blipFill>
        <p:spPr>
          <a:xfrm>
            <a:off x="535459" y="248524"/>
            <a:ext cx="11121081" cy="6360950"/>
          </a:xfrm>
          <a:prstGeom prst="rect">
            <a:avLst/>
          </a:prstGeom>
        </p:spPr>
      </p:pic>
    </p:spTree>
    <p:extLst>
      <p:ext uri="{BB962C8B-B14F-4D97-AF65-F5344CB8AC3E}">
        <p14:creationId xmlns:p14="http://schemas.microsoft.com/office/powerpoint/2010/main" val="17789102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D543C-FF1B-2035-11E1-C585D98BDAD5}"/>
              </a:ext>
            </a:extLst>
          </p:cNvPr>
          <p:cNvSpPr>
            <a:spLocks noGrp="1"/>
          </p:cNvSpPr>
          <p:nvPr>
            <p:ph type="title"/>
          </p:nvPr>
        </p:nvSpPr>
        <p:spPr>
          <a:xfrm>
            <a:off x="431800" y="90805"/>
            <a:ext cx="10515600" cy="781065"/>
          </a:xfrm>
        </p:spPr>
        <p:txBody>
          <a:bodyPr>
            <a:normAutofit/>
          </a:bodyPr>
          <a:lstStyle/>
          <a:p>
            <a:r>
              <a:rPr lang="en-US" sz="2400" b="1">
                <a:solidFill>
                  <a:srgbClr val="2E75B6"/>
                </a:solidFill>
                <a:latin typeface="Times New Roman"/>
                <a:ea typeface="Calibri Light"/>
                <a:cs typeface="Times New Roman"/>
              </a:rPr>
              <a:t>Results &amp;Discussions</a:t>
            </a:r>
            <a:endParaRPr lang="en-US" sz="2400" b="1">
              <a:solidFill>
                <a:srgbClr val="2E75B6"/>
              </a:solidFill>
              <a:latin typeface="Times New Roman"/>
              <a:ea typeface="Calibri Light" panose="020F0302020204030204"/>
              <a:cs typeface="Calibri Light" panose="020F0302020204030204"/>
            </a:endParaRPr>
          </a:p>
        </p:txBody>
      </p:sp>
      <p:pic>
        <p:nvPicPr>
          <p:cNvPr id="4" name="Picture 3" descr="A screenshot of a computer screen&#10;&#10;AI-generated content may be incorrect.">
            <a:extLst>
              <a:ext uri="{FF2B5EF4-FFF2-40B4-BE49-F238E27FC236}">
                <a16:creationId xmlns:a16="http://schemas.microsoft.com/office/drawing/2014/main" id="{7619951E-1ECB-1C1A-2D75-D1D8BB52111D}"/>
              </a:ext>
            </a:extLst>
          </p:cNvPr>
          <p:cNvPicPr>
            <a:picLocks noChangeAspect="1"/>
          </p:cNvPicPr>
          <p:nvPr/>
        </p:nvPicPr>
        <p:blipFill>
          <a:blip r:embed="rId2"/>
          <a:stretch>
            <a:fillRect/>
          </a:stretch>
        </p:blipFill>
        <p:spPr>
          <a:xfrm>
            <a:off x="2403716" y="2801982"/>
            <a:ext cx="7150161" cy="3962401"/>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2E20534F-F37D-8DA7-0F83-4691D9B5E3D6}"/>
              </a:ext>
            </a:extLst>
          </p:cNvPr>
          <p:cNvPicPr>
            <a:picLocks noChangeAspect="1"/>
          </p:cNvPicPr>
          <p:nvPr/>
        </p:nvPicPr>
        <p:blipFill>
          <a:blip r:embed="rId3"/>
          <a:stretch>
            <a:fillRect/>
          </a:stretch>
        </p:blipFill>
        <p:spPr>
          <a:xfrm>
            <a:off x="2401842" y="1184366"/>
            <a:ext cx="4324350" cy="1524000"/>
          </a:xfrm>
          <a:prstGeom prst="rect">
            <a:avLst/>
          </a:prstGeom>
        </p:spPr>
      </p:pic>
    </p:spTree>
    <p:extLst>
      <p:ext uri="{BB962C8B-B14F-4D97-AF65-F5344CB8AC3E}">
        <p14:creationId xmlns:p14="http://schemas.microsoft.com/office/powerpoint/2010/main" val="1818586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diagram of a confused matrix&#10;&#10;AI-generated content may be incorrect.">
            <a:extLst>
              <a:ext uri="{FF2B5EF4-FFF2-40B4-BE49-F238E27FC236}">
                <a16:creationId xmlns:a16="http://schemas.microsoft.com/office/drawing/2014/main" id="{1BEAA4B2-871E-4370-429D-8F6D08C73921}"/>
              </a:ext>
            </a:extLst>
          </p:cNvPr>
          <p:cNvPicPr>
            <a:picLocks noChangeAspect="1"/>
          </p:cNvPicPr>
          <p:nvPr/>
        </p:nvPicPr>
        <p:blipFill>
          <a:blip r:embed="rId2"/>
          <a:stretch>
            <a:fillRect/>
          </a:stretch>
        </p:blipFill>
        <p:spPr>
          <a:xfrm>
            <a:off x="1945821" y="1612447"/>
            <a:ext cx="3543303" cy="3208565"/>
          </a:xfrm>
          <a:prstGeom prst="rect">
            <a:avLst/>
          </a:prstGeom>
        </p:spPr>
      </p:pic>
      <p:pic>
        <p:nvPicPr>
          <p:cNvPr id="3" name="Picture 2" descr="A graph of a curve&#10;&#10;AI-generated content may be incorrect.">
            <a:extLst>
              <a:ext uri="{FF2B5EF4-FFF2-40B4-BE49-F238E27FC236}">
                <a16:creationId xmlns:a16="http://schemas.microsoft.com/office/drawing/2014/main" id="{25851449-66A7-A10B-2AFC-BBBE4E27E04B}"/>
              </a:ext>
            </a:extLst>
          </p:cNvPr>
          <p:cNvPicPr>
            <a:picLocks noChangeAspect="1"/>
          </p:cNvPicPr>
          <p:nvPr/>
        </p:nvPicPr>
        <p:blipFill>
          <a:blip r:embed="rId3"/>
          <a:stretch>
            <a:fillRect/>
          </a:stretch>
        </p:blipFill>
        <p:spPr>
          <a:xfrm>
            <a:off x="6712403" y="192542"/>
            <a:ext cx="3948794" cy="3239861"/>
          </a:xfrm>
          <a:prstGeom prst="rect">
            <a:avLst/>
          </a:prstGeom>
        </p:spPr>
      </p:pic>
      <p:pic>
        <p:nvPicPr>
          <p:cNvPr id="4" name="Picture 3" descr="A graph with blue and orange lines&#10;&#10;AI-generated content may be incorrect.">
            <a:extLst>
              <a:ext uri="{FF2B5EF4-FFF2-40B4-BE49-F238E27FC236}">
                <a16:creationId xmlns:a16="http://schemas.microsoft.com/office/drawing/2014/main" id="{43BCF369-E6DE-A821-6077-2097BF565638}"/>
              </a:ext>
            </a:extLst>
          </p:cNvPr>
          <p:cNvPicPr>
            <a:picLocks noChangeAspect="1"/>
          </p:cNvPicPr>
          <p:nvPr/>
        </p:nvPicPr>
        <p:blipFill>
          <a:blip r:embed="rId4"/>
          <a:stretch>
            <a:fillRect/>
          </a:stretch>
        </p:blipFill>
        <p:spPr>
          <a:xfrm>
            <a:off x="6713084" y="3432403"/>
            <a:ext cx="3947434" cy="3226254"/>
          </a:xfrm>
          <a:prstGeom prst="rect">
            <a:avLst/>
          </a:prstGeom>
        </p:spPr>
      </p:pic>
    </p:spTree>
    <p:extLst>
      <p:ext uri="{BB962C8B-B14F-4D97-AF65-F5344CB8AC3E}">
        <p14:creationId xmlns:p14="http://schemas.microsoft.com/office/powerpoint/2010/main" val="17478348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60348D1-A7A5-7AC7-4FCC-98DC0532C0E3}"/>
              </a:ext>
            </a:extLst>
          </p:cNvPr>
          <p:cNvPicPr>
            <a:picLocks noChangeAspect="1"/>
          </p:cNvPicPr>
          <p:nvPr/>
        </p:nvPicPr>
        <p:blipFill>
          <a:blip r:embed="rId2"/>
          <a:stretch>
            <a:fillRect/>
          </a:stretch>
        </p:blipFill>
        <p:spPr>
          <a:xfrm>
            <a:off x="120975" y="185057"/>
            <a:ext cx="6659592" cy="6487886"/>
          </a:xfrm>
          <a:prstGeom prst="rect">
            <a:avLst/>
          </a:prstGeom>
        </p:spPr>
      </p:pic>
      <p:pic>
        <p:nvPicPr>
          <p:cNvPr id="3" name="Picture 2" descr="A graph with a line&#10;&#10;AI-generated content may be incorrect.">
            <a:extLst>
              <a:ext uri="{FF2B5EF4-FFF2-40B4-BE49-F238E27FC236}">
                <a16:creationId xmlns:a16="http://schemas.microsoft.com/office/drawing/2014/main" id="{4CCFC544-86C6-0D9F-52A3-CC42ECD0FB03}"/>
              </a:ext>
            </a:extLst>
          </p:cNvPr>
          <p:cNvPicPr>
            <a:picLocks noChangeAspect="1"/>
          </p:cNvPicPr>
          <p:nvPr/>
        </p:nvPicPr>
        <p:blipFill>
          <a:blip r:embed="rId3"/>
          <a:stretch>
            <a:fillRect/>
          </a:stretch>
        </p:blipFill>
        <p:spPr>
          <a:xfrm>
            <a:off x="7102247" y="1377042"/>
            <a:ext cx="4769305" cy="4093029"/>
          </a:xfrm>
          <a:prstGeom prst="rect">
            <a:avLst/>
          </a:prstGeom>
        </p:spPr>
      </p:pic>
    </p:spTree>
    <p:extLst>
      <p:ext uri="{BB962C8B-B14F-4D97-AF65-F5344CB8AC3E}">
        <p14:creationId xmlns:p14="http://schemas.microsoft.com/office/powerpoint/2010/main" val="31888602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 shot of a graph&#10;&#10;AI-generated content may be incorrect.">
            <a:extLst>
              <a:ext uri="{FF2B5EF4-FFF2-40B4-BE49-F238E27FC236}">
                <a16:creationId xmlns:a16="http://schemas.microsoft.com/office/drawing/2014/main" id="{D5863829-7144-33AC-7E2B-333413909D52}"/>
              </a:ext>
            </a:extLst>
          </p:cNvPr>
          <p:cNvPicPr>
            <a:picLocks noChangeAspect="1"/>
          </p:cNvPicPr>
          <p:nvPr/>
        </p:nvPicPr>
        <p:blipFill>
          <a:blip r:embed="rId2"/>
          <a:stretch>
            <a:fillRect/>
          </a:stretch>
        </p:blipFill>
        <p:spPr>
          <a:xfrm>
            <a:off x="403411" y="402771"/>
            <a:ext cx="5691950" cy="6063343"/>
          </a:xfrm>
          <a:prstGeom prst="rect">
            <a:avLst/>
          </a:prstGeom>
        </p:spPr>
      </p:pic>
      <p:pic>
        <p:nvPicPr>
          <p:cNvPr id="4" name="Picture 3" descr="A graph with blue and white bars&#10;&#10;AI-generated content may be incorrect.">
            <a:extLst>
              <a:ext uri="{FF2B5EF4-FFF2-40B4-BE49-F238E27FC236}">
                <a16:creationId xmlns:a16="http://schemas.microsoft.com/office/drawing/2014/main" id="{008CC3B4-92C5-88B8-AA99-686D0ECD6CC4}"/>
              </a:ext>
            </a:extLst>
          </p:cNvPr>
          <p:cNvPicPr>
            <a:picLocks noChangeAspect="1"/>
          </p:cNvPicPr>
          <p:nvPr/>
        </p:nvPicPr>
        <p:blipFill>
          <a:blip r:embed="rId3"/>
          <a:stretch>
            <a:fillRect/>
          </a:stretch>
        </p:blipFill>
        <p:spPr>
          <a:xfrm>
            <a:off x="6215742" y="992987"/>
            <a:ext cx="5693231" cy="4872026"/>
          </a:xfrm>
          <a:prstGeom prst="rect">
            <a:avLst/>
          </a:prstGeom>
        </p:spPr>
      </p:pic>
    </p:spTree>
    <p:extLst>
      <p:ext uri="{BB962C8B-B14F-4D97-AF65-F5344CB8AC3E}">
        <p14:creationId xmlns:p14="http://schemas.microsoft.com/office/powerpoint/2010/main" val="42017490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6454" y="198870"/>
            <a:ext cx="10515600" cy="587939"/>
          </a:xfrm>
        </p:spPr>
        <p:txBody>
          <a:bodyPr>
            <a:normAutofit/>
          </a:bodyPr>
          <a:lstStyle/>
          <a:p>
            <a:r>
              <a:rPr lang="en-IN" sz="2400" b="1">
                <a:solidFill>
                  <a:schemeClr val="accent1">
                    <a:lumMod val="75000"/>
                  </a:schemeClr>
                </a:solidFill>
                <a:latin typeface="Times New Roman" panose="02020603050405020304" pitchFamily="18" charset="0"/>
                <a:cs typeface="Times New Roman" panose="02020603050405020304" pitchFamily="18" charset="0"/>
              </a:rPr>
              <a:t>Conculsion</a:t>
            </a:r>
          </a:p>
        </p:txBody>
      </p:sp>
      <p:sp>
        <p:nvSpPr>
          <p:cNvPr id="4" name="Rectangle 1"/>
          <p:cNvSpPr>
            <a:spLocks noGrp="1" noChangeArrowheads="1"/>
          </p:cNvSpPr>
          <p:nvPr>
            <p:ph idx="1"/>
          </p:nvPr>
        </p:nvSpPr>
        <p:spPr bwMode="auto">
          <a:xfrm>
            <a:off x="372140" y="1605613"/>
            <a:ext cx="11159697" cy="3544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a:buNone/>
            </a:pPr>
            <a:r>
              <a:rPr lang="en-US" sz="2000">
                <a:latin typeface="Times New Roman" panose="02020603050405020304" pitchFamily="18" charset="0"/>
                <a:cs typeface="Times New Roman" panose="02020603050405020304" pitchFamily="18" charset="0"/>
              </a:rPr>
              <a:t>In this study, developed a novel </a:t>
            </a:r>
            <a:r>
              <a:rPr lang="en-US" sz="2000" err="1">
                <a:latin typeface="Times New Roman" panose="02020603050405020304" pitchFamily="18" charset="0"/>
                <a:cs typeface="Times New Roman" panose="02020603050405020304" pitchFamily="18" charset="0"/>
              </a:rPr>
              <a:t>AttenTabTCN</a:t>
            </a:r>
            <a:r>
              <a:rPr lang="en-US" sz="2000">
                <a:latin typeface="Times New Roman" panose="02020603050405020304" pitchFamily="18" charset="0"/>
                <a:cs typeface="Times New Roman" panose="02020603050405020304" pitchFamily="18" charset="0"/>
              </a:rPr>
              <a:t>-Fuse model was developed that integrates multimodal data using HashRFE feature selection as we l as improves interpretability with </a:t>
            </a:r>
            <a:r>
              <a:rPr lang="en-US" sz="2000" err="1">
                <a:latin typeface="Times New Roman" panose="02020603050405020304" pitchFamily="18" charset="0"/>
                <a:cs typeface="Times New Roman" panose="02020603050405020304" pitchFamily="18" charset="0"/>
              </a:rPr>
              <a:t>XAIShEx</a:t>
            </a:r>
            <a:r>
              <a:rPr lang="en-US" sz="2000">
                <a:latin typeface="Times New Roman" panose="02020603050405020304" pitchFamily="18" charset="0"/>
                <a:cs typeface="Times New Roman" panose="02020603050405020304" pitchFamily="18" charset="0"/>
              </a:rPr>
              <a:t> explainability to predict neurological deterioration in WD. This proposed model outperforms other existing models. The results demonstrate that the system achieves </a:t>
            </a:r>
            <a:r>
              <a:rPr lang="en-US" sz="2000" err="1">
                <a:latin typeface="Times New Roman" panose="02020603050405020304" pitchFamily="18" charset="0"/>
                <a:cs typeface="Times New Roman" panose="02020603050405020304" pitchFamily="18" charset="0"/>
              </a:rPr>
              <a:t>goodprediction</a:t>
            </a:r>
            <a:r>
              <a:rPr lang="en-US" sz="2000">
                <a:latin typeface="Times New Roman" panose="02020603050405020304" pitchFamily="18" charset="0"/>
                <a:cs typeface="Times New Roman" panose="02020603050405020304" pitchFamily="18" charset="0"/>
              </a:rPr>
              <a:t> results with high accuracy across a range of evaluation metrics. Although </a:t>
            </a:r>
            <a:r>
              <a:rPr lang="en-US" sz="2000" err="1">
                <a:latin typeface="Times New Roman" panose="02020603050405020304" pitchFamily="18" charset="0"/>
                <a:cs typeface="Times New Roman" panose="02020603050405020304" pitchFamily="18" charset="0"/>
              </a:rPr>
              <a:t>theproposed</a:t>
            </a:r>
            <a:r>
              <a:rPr lang="en-US" sz="2000">
                <a:latin typeface="Times New Roman" panose="02020603050405020304" pitchFamily="18" charset="0"/>
                <a:cs typeface="Times New Roman" panose="02020603050405020304" pitchFamily="18" charset="0"/>
              </a:rPr>
              <a:t> model works well, it still needs to be improved. The experimental results reveal that the proposed model achieves an accuracy (ACC) of 99.95%, precision (PREC) of 99.21%, </a:t>
            </a:r>
            <a:r>
              <a:rPr lang="en-US" sz="2000" err="1">
                <a:latin typeface="Times New Roman" panose="02020603050405020304" pitchFamily="18" charset="0"/>
                <a:cs typeface="Times New Roman" panose="02020603050405020304" pitchFamily="18" charset="0"/>
              </a:rPr>
              <a:t>reca</a:t>
            </a:r>
            <a:r>
              <a:rPr lang="en-US" sz="2000">
                <a:latin typeface="Times New Roman" panose="02020603050405020304" pitchFamily="18" charset="0"/>
                <a:cs typeface="Times New Roman" panose="02020603050405020304" pitchFamily="18" charset="0"/>
              </a:rPr>
              <a:t> l/sensitivity of 98.34%, F1-score of 98.12%, Matthews Correlation Coefficient (MCC) of 93.54%, and Area under the Receiver Operating Characteristic Curve (ROC-AUC) of 0.987. Future work could explore the automated hyperparameter optimization by performing complex techniques like Bayesian Optimization or Differential Evolution, which would replace manual tuning to further increase model effectiveness.</a:t>
            </a:r>
            <a:endParaRPr lang="en-IN" sz="2000">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380742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5714" y="4720"/>
            <a:ext cx="10515600" cy="813987"/>
          </a:xfrm>
        </p:spPr>
        <p:txBody>
          <a:bodyPr/>
          <a:lstStyle/>
          <a:p>
            <a:r>
              <a:rPr lang="en-IN" sz="2400" b="1">
                <a:solidFill>
                  <a:schemeClr val="accent1">
                    <a:lumMod val="75000"/>
                  </a:schemeClr>
                </a:solidFill>
                <a:latin typeface="Times New Roman" panose="02020603050405020304" pitchFamily="18" charset="0"/>
                <a:cs typeface="Times New Roman" panose="02020603050405020304" pitchFamily="18" charset="0"/>
              </a:rPr>
              <a:t>References</a:t>
            </a:r>
            <a:r>
              <a:rPr lang="en-IN" b="1">
                <a:solidFill>
                  <a:schemeClr val="accent1">
                    <a:lumMod val="75000"/>
                  </a:schemeClr>
                </a:solidFill>
                <a:latin typeface="Times New Roman" panose="02020603050405020304" pitchFamily="18" charset="0"/>
                <a:cs typeface="Times New Roman" panose="02020603050405020304" pitchFamily="18" charset="0"/>
              </a:rPr>
              <a:t> </a:t>
            </a:r>
          </a:p>
        </p:txBody>
      </p:sp>
      <p:sp>
        <p:nvSpPr>
          <p:cNvPr id="3" name="Content Placeholder 2"/>
          <p:cNvSpPr>
            <a:spLocks noGrp="1"/>
          </p:cNvSpPr>
          <p:nvPr>
            <p:ph idx="1"/>
          </p:nvPr>
        </p:nvSpPr>
        <p:spPr>
          <a:xfrm>
            <a:off x="838200" y="1094517"/>
            <a:ext cx="10515600" cy="5103040"/>
          </a:xfrm>
        </p:spPr>
        <p:txBody>
          <a:bodyPr vert="horz" lIns="91440" tIns="45720" rIns="91440" bIns="45720" rtlCol="0" anchor="t">
            <a:normAutofit fontScale="92500"/>
          </a:bodyPr>
          <a:lstStyle/>
          <a:p>
            <a:pPr algn="just">
              <a:buFont typeface="Wingdings" panose="05000000000000000000" pitchFamily="2" charset="2"/>
              <a:buChar char="Ø"/>
            </a:pPr>
            <a:r>
              <a:rPr lang="en-IN" sz="2200">
                <a:latin typeface="Times New Roman" panose="02020603050405020304" pitchFamily="18" charset="0"/>
                <a:cs typeface="Times New Roman" panose="02020603050405020304" pitchFamily="18" charset="0"/>
              </a:rPr>
              <a:t> </a:t>
            </a:r>
            <a:r>
              <a:rPr lang="en-IN" sz="2200" err="1">
                <a:latin typeface="Times New Roman" panose="02020603050405020304" pitchFamily="18" charset="0"/>
                <a:cs typeface="Times New Roman" panose="02020603050405020304" pitchFamily="18" charset="0"/>
              </a:rPr>
              <a:t>Saba</a:t>
            </a:r>
            <a:r>
              <a:rPr lang="en-IN" sz="2200">
                <a:latin typeface="Times New Roman" panose="02020603050405020304" pitchFamily="18" charset="0"/>
                <a:cs typeface="Times New Roman" panose="02020603050405020304" pitchFamily="18" charset="0"/>
              </a:rPr>
              <a:t>, L., Agarwal, M., </a:t>
            </a:r>
            <a:r>
              <a:rPr lang="en-IN" sz="2200" err="1">
                <a:latin typeface="Times New Roman" panose="02020603050405020304" pitchFamily="18" charset="0"/>
                <a:cs typeface="Times New Roman" panose="02020603050405020304" pitchFamily="18" charset="0"/>
              </a:rPr>
              <a:t>Sanagala</a:t>
            </a:r>
            <a:r>
              <a:rPr lang="en-IN" sz="2200">
                <a:latin typeface="Times New Roman" panose="02020603050405020304" pitchFamily="18" charset="0"/>
                <a:cs typeface="Times New Roman" panose="02020603050405020304" pitchFamily="18" charset="0"/>
              </a:rPr>
              <a:t>, S.S., Gupta, S.K., Sinha, G.R., </a:t>
            </a:r>
            <a:r>
              <a:rPr lang="en-IN" sz="2200" err="1">
                <a:latin typeface="Times New Roman" panose="02020603050405020304" pitchFamily="18" charset="0"/>
                <a:cs typeface="Times New Roman" panose="02020603050405020304" pitchFamily="18" charset="0"/>
              </a:rPr>
              <a:t>Johri</a:t>
            </a:r>
            <a:r>
              <a:rPr lang="en-IN" sz="2200">
                <a:latin typeface="Times New Roman" panose="02020603050405020304" pitchFamily="18" charset="0"/>
                <a:cs typeface="Times New Roman" panose="02020603050405020304" pitchFamily="18" charset="0"/>
              </a:rPr>
              <a:t>, </a:t>
            </a:r>
            <a:r>
              <a:rPr lang="en-IN" sz="2200" err="1">
                <a:latin typeface="Times New Roman" panose="02020603050405020304" pitchFamily="18" charset="0"/>
                <a:cs typeface="Times New Roman" panose="02020603050405020304" pitchFamily="18" charset="0"/>
              </a:rPr>
              <a:t>A.M.,Khanna</a:t>
            </a:r>
            <a:r>
              <a:rPr lang="en-IN" sz="2200">
                <a:latin typeface="Times New Roman" panose="02020603050405020304" pitchFamily="18" charset="0"/>
                <a:cs typeface="Times New Roman" panose="02020603050405020304" pitchFamily="18" charset="0"/>
              </a:rPr>
              <a:t>, N.N., </a:t>
            </a:r>
            <a:r>
              <a:rPr lang="en-IN" sz="2200" err="1">
                <a:latin typeface="Times New Roman" panose="02020603050405020304" pitchFamily="18" charset="0"/>
                <a:cs typeface="Times New Roman" panose="02020603050405020304" pitchFamily="18" charset="0"/>
              </a:rPr>
              <a:t>Mavrogeni</a:t>
            </a:r>
            <a:r>
              <a:rPr lang="en-IN" sz="2200">
                <a:latin typeface="Times New Roman" panose="02020603050405020304" pitchFamily="18" charset="0"/>
                <a:cs typeface="Times New Roman" panose="02020603050405020304" pitchFamily="18" charset="0"/>
              </a:rPr>
              <a:t>, S., Laird, J.R., </a:t>
            </a:r>
            <a:r>
              <a:rPr lang="en-IN" sz="2200" err="1">
                <a:latin typeface="Times New Roman" panose="02020603050405020304" pitchFamily="18" charset="0"/>
                <a:cs typeface="Times New Roman" panose="02020603050405020304" pitchFamily="18" charset="0"/>
              </a:rPr>
              <a:t>Pareek</a:t>
            </a:r>
            <a:r>
              <a:rPr lang="en-IN" sz="2200">
                <a:latin typeface="Times New Roman" panose="02020603050405020304" pitchFamily="18" charset="0"/>
                <a:cs typeface="Times New Roman" panose="02020603050405020304" pitchFamily="18" charset="0"/>
              </a:rPr>
              <a:t>, G.J.E.L. and Miner, M., 2020.Brain MRI‐based Wilson disease tissue classification: an optimised deep </a:t>
            </a:r>
            <a:r>
              <a:rPr lang="en-IN" sz="2200" err="1">
                <a:latin typeface="Times New Roman" panose="02020603050405020304" pitchFamily="18" charset="0"/>
                <a:cs typeface="Times New Roman" panose="02020603050405020304" pitchFamily="18" charset="0"/>
              </a:rPr>
              <a:t>transferlearning</a:t>
            </a:r>
            <a:r>
              <a:rPr lang="en-IN" sz="2200">
                <a:latin typeface="Times New Roman" panose="02020603050405020304" pitchFamily="18" charset="0"/>
                <a:cs typeface="Times New Roman" panose="02020603050405020304" pitchFamily="18" charset="0"/>
              </a:rPr>
              <a:t> approach. Electronics Letters, 56(25), pp.1395-1398</a:t>
            </a:r>
            <a:r>
              <a:rPr lang="en-IN" sz="2200"/>
              <a:t>.</a:t>
            </a:r>
          </a:p>
          <a:p>
            <a:pPr algn="just">
              <a:buFont typeface="Wingdings" panose="05000000000000000000" pitchFamily="2" charset="2"/>
              <a:buChar char="Ø"/>
            </a:pPr>
            <a:r>
              <a:rPr lang="en-IN" sz="2200">
                <a:latin typeface="Times New Roman"/>
                <a:cs typeface="Times New Roman"/>
              </a:rPr>
              <a:t>Salman, H.M., Amin, M., Syed, J., Sarfraz, Z., Sarfraz, A., Sarfraz, M., Farfan Bajana, M.J., Felix, M. and Cherrez‐Ojeda, I., 2022. Biochemical testing for the diagnosis of Wilson&amp;#39;s disease: A systematic review. Journal of Clinical Laboratory Analysis, 36(2), p.e24191.</a:t>
            </a:r>
          </a:p>
          <a:p>
            <a:pPr algn="just">
              <a:buFont typeface="Wingdings" panose="05000000000000000000" pitchFamily="2" charset="2"/>
              <a:buChar char="Ø"/>
            </a:pPr>
            <a:r>
              <a:rPr lang="en-IN" sz="2200">
                <a:latin typeface="Times New Roman" panose="02020603050405020304" pitchFamily="18" charset="0"/>
                <a:cs typeface="Times New Roman" panose="02020603050405020304" pitchFamily="18" charset="0"/>
              </a:rPr>
              <a:t>Wang, S., Chang, J., Yang, C., Rao, R., Wu, T., Wang, J., Sun, D., Xia, </a:t>
            </a:r>
            <a:r>
              <a:rPr lang="en-IN" sz="2200" err="1">
                <a:latin typeface="Times New Roman" panose="02020603050405020304" pitchFamily="18" charset="0"/>
                <a:cs typeface="Times New Roman" panose="02020603050405020304" pitchFamily="18" charset="0"/>
              </a:rPr>
              <a:t>K.,Wang</a:t>
            </a:r>
            <a:r>
              <a:rPr lang="en-IN" sz="2200">
                <a:latin typeface="Times New Roman" panose="02020603050405020304" pitchFamily="18" charset="0"/>
                <a:cs typeface="Times New Roman" panose="02020603050405020304" pitchFamily="18" charset="0"/>
              </a:rPr>
              <a:t>, X., Han, Y. and Han, Y., 2025. Explainable machine learning model predicting neurological deterioration in Wilson&amp;#39;s disease via MRI </a:t>
            </a:r>
            <a:r>
              <a:rPr lang="en-IN" sz="2200" err="1">
                <a:latin typeface="Times New Roman" panose="02020603050405020304" pitchFamily="18" charset="0"/>
                <a:cs typeface="Times New Roman" panose="02020603050405020304" pitchFamily="18" charset="0"/>
              </a:rPr>
              <a:t>radiomics</a:t>
            </a:r>
            <a:r>
              <a:rPr lang="en-IN" sz="2200">
                <a:latin typeface="Times New Roman" panose="02020603050405020304" pitchFamily="18" charset="0"/>
                <a:cs typeface="Times New Roman" panose="02020603050405020304" pitchFamily="18" charset="0"/>
              </a:rPr>
              <a:t> and clinical features. Parkinsonism &amp;amp; Related Disorders, p.107908.</a:t>
            </a:r>
          </a:p>
          <a:p>
            <a:pPr marL="285750" indent="-285750" algn="just">
              <a:lnSpc>
                <a:spcPct val="100000"/>
              </a:lnSpc>
              <a:spcBef>
                <a:spcPts val="0"/>
              </a:spcBef>
              <a:buFont typeface="Wingdings,Sans-Serif" panose="05000000000000000000" pitchFamily="2" charset="2"/>
              <a:buChar char="Ø"/>
            </a:pPr>
            <a:r>
              <a:rPr lang="en-IN" sz="2200">
                <a:latin typeface="Times New Roman"/>
                <a:cs typeface="Times New Roman"/>
              </a:rPr>
              <a:t>Benzine, H., </a:t>
            </a:r>
            <a:r>
              <a:rPr lang="en-IN" sz="2200" err="1">
                <a:latin typeface="Times New Roman"/>
                <a:cs typeface="Times New Roman"/>
              </a:rPr>
              <a:t>Lhousni</a:t>
            </a:r>
            <a:r>
              <a:rPr lang="en-IN" sz="2200">
                <a:latin typeface="Times New Roman"/>
                <a:cs typeface="Times New Roman"/>
              </a:rPr>
              <a:t>, S., </a:t>
            </a:r>
            <a:r>
              <a:rPr lang="en-IN" sz="2200" err="1">
                <a:latin typeface="Times New Roman"/>
                <a:cs typeface="Times New Roman"/>
              </a:rPr>
              <a:t>Rkain</a:t>
            </a:r>
            <a:r>
              <a:rPr lang="en-IN" sz="2200">
                <a:latin typeface="Times New Roman"/>
                <a:cs typeface="Times New Roman"/>
              </a:rPr>
              <a:t>, M., </a:t>
            </a:r>
            <a:r>
              <a:rPr lang="en-IN" sz="2200" err="1">
                <a:latin typeface="Times New Roman"/>
                <a:cs typeface="Times New Roman"/>
              </a:rPr>
              <a:t>Ouarzane</a:t>
            </a:r>
            <a:r>
              <a:rPr lang="en-IN" sz="2200">
                <a:latin typeface="Times New Roman"/>
                <a:cs typeface="Times New Roman"/>
              </a:rPr>
              <a:t>, M., </a:t>
            </a:r>
            <a:r>
              <a:rPr lang="en-IN" sz="2200" err="1">
                <a:latin typeface="Times New Roman"/>
                <a:cs typeface="Times New Roman"/>
              </a:rPr>
              <a:t>Boulouiz</a:t>
            </a:r>
            <a:r>
              <a:rPr lang="en-IN" sz="2200">
                <a:latin typeface="Times New Roman"/>
                <a:cs typeface="Times New Roman"/>
              </a:rPr>
              <a:t>, R., </a:t>
            </a:r>
            <a:r>
              <a:rPr lang="en-IN" sz="2200" err="1">
                <a:latin typeface="Times New Roman"/>
                <a:cs typeface="Times New Roman"/>
              </a:rPr>
              <a:t>Bellaoui</a:t>
            </a:r>
            <a:r>
              <a:rPr lang="en-IN" sz="2200">
                <a:latin typeface="Times New Roman"/>
                <a:cs typeface="Times New Roman"/>
              </a:rPr>
              <a:t>, M. </a:t>
            </a:r>
            <a:r>
              <a:rPr lang="en-IN" sz="2200" err="1">
                <a:latin typeface="Times New Roman"/>
                <a:cs typeface="Times New Roman"/>
              </a:rPr>
              <a:t>andCharif</a:t>
            </a:r>
            <a:r>
              <a:rPr lang="en-IN" sz="2200">
                <a:latin typeface="Times New Roman"/>
                <a:cs typeface="Times New Roman"/>
              </a:rPr>
              <a:t>, M., 2025. Clinical and Molecular Spectrum of Wilson Disease in the </a:t>
            </a:r>
            <a:r>
              <a:rPr lang="en-IN" sz="2200" err="1">
                <a:latin typeface="Times New Roman"/>
                <a:cs typeface="Times New Roman"/>
              </a:rPr>
              <a:t>ArabWorld</a:t>
            </a:r>
            <a:r>
              <a:rPr lang="en-IN" sz="2200">
                <a:latin typeface="Times New Roman"/>
                <a:cs typeface="Times New Roman"/>
              </a:rPr>
              <a:t>: A Systematic Review. Biochemical Genetics, 63(2), pp.1198-1218.</a:t>
            </a:r>
          </a:p>
          <a:p>
            <a:pPr marL="285750" indent="-285750" algn="just">
              <a:lnSpc>
                <a:spcPct val="100000"/>
              </a:lnSpc>
              <a:spcBef>
                <a:spcPts val="0"/>
              </a:spcBef>
              <a:buFont typeface="Wingdings,Sans-Serif" panose="05000000000000000000" pitchFamily="2" charset="2"/>
              <a:buChar char="Ø"/>
            </a:pPr>
            <a:r>
              <a:rPr lang="en-IN" sz="2200">
                <a:latin typeface="Times New Roman"/>
                <a:cs typeface="Times New Roman"/>
              </a:rPr>
              <a:t>Patwa, J. and Flora, S.J.S., 2024. Copper: From enigma to therapeutic target </a:t>
            </a:r>
            <a:r>
              <a:rPr lang="en-IN" sz="2200" err="1">
                <a:latin typeface="Times New Roman"/>
                <a:cs typeface="Times New Roman"/>
              </a:rPr>
              <a:t>forneurological</a:t>
            </a:r>
            <a:r>
              <a:rPr lang="en-IN" sz="2200">
                <a:latin typeface="Times New Roman"/>
                <a:cs typeface="Times New Roman"/>
              </a:rPr>
              <a:t> disorder. Basic &amp;amp; Clinical Pharmacology &amp;amp; Toxicology, 134(6),pp.778-791.</a:t>
            </a:r>
          </a:p>
        </p:txBody>
      </p:sp>
    </p:spTree>
    <p:extLst>
      <p:ext uri="{BB962C8B-B14F-4D97-AF65-F5344CB8AC3E}">
        <p14:creationId xmlns:p14="http://schemas.microsoft.com/office/powerpoint/2010/main" val="32540907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D712ED-6332-A8E0-E00C-EEFB144E4B8B}"/>
              </a:ext>
            </a:extLst>
          </p:cNvPr>
          <p:cNvSpPr>
            <a:spLocks noGrp="1"/>
          </p:cNvSpPr>
          <p:nvPr>
            <p:ph idx="1"/>
          </p:nvPr>
        </p:nvSpPr>
        <p:spPr>
          <a:xfrm>
            <a:off x="838200" y="871870"/>
            <a:ext cx="10515600" cy="5305093"/>
          </a:xfrm>
        </p:spPr>
        <p:txBody>
          <a:bodyPr>
            <a:normAutofit fontScale="92500" lnSpcReduction="20000"/>
          </a:bodyPr>
          <a:lstStyle/>
          <a:p>
            <a:pPr algn="just">
              <a:buFont typeface="Wingdings" panose="05000000000000000000" pitchFamily="2" charset="2"/>
              <a:buChar char="Ø"/>
            </a:pPr>
            <a:r>
              <a:rPr lang="en-IN" sz="2400" err="1">
                <a:latin typeface="Times New Roman" panose="02020603050405020304" pitchFamily="18" charset="0"/>
                <a:cs typeface="Times New Roman" panose="02020603050405020304" pitchFamily="18" charset="0"/>
              </a:rPr>
              <a:t>Ziemseen</a:t>
            </a:r>
            <a:r>
              <a:rPr lang="en-IN" sz="2400">
                <a:latin typeface="Times New Roman" panose="02020603050405020304" pitchFamily="18" charset="0"/>
                <a:cs typeface="Times New Roman" panose="02020603050405020304" pitchFamily="18" charset="0"/>
              </a:rPr>
              <a:t>, L., Agarwal, M., Sanagala, S.S., Gupta, S.K., Sinha, G.R., Johri, </a:t>
            </a:r>
            <a:r>
              <a:rPr lang="en-IN" sz="2400" err="1">
                <a:latin typeface="Times New Roman" panose="02020603050405020304" pitchFamily="18" charset="0"/>
                <a:cs typeface="Times New Roman" panose="02020603050405020304" pitchFamily="18" charset="0"/>
              </a:rPr>
              <a:t>A.M.,Khanna</a:t>
            </a:r>
            <a:r>
              <a:rPr lang="en-IN" sz="2400">
                <a:latin typeface="Times New Roman" panose="02020603050405020304" pitchFamily="18" charset="0"/>
                <a:cs typeface="Times New Roman" panose="02020603050405020304" pitchFamily="18" charset="0"/>
              </a:rPr>
              <a:t>, N.N., </a:t>
            </a:r>
            <a:r>
              <a:rPr lang="en-IN" sz="2400" err="1">
                <a:latin typeface="Times New Roman" panose="02020603050405020304" pitchFamily="18" charset="0"/>
                <a:cs typeface="Times New Roman" panose="02020603050405020304" pitchFamily="18" charset="0"/>
              </a:rPr>
              <a:t>Mavrogeni</a:t>
            </a:r>
            <a:r>
              <a:rPr lang="en-IN" sz="2400">
                <a:latin typeface="Times New Roman" panose="02020603050405020304" pitchFamily="18" charset="0"/>
                <a:cs typeface="Times New Roman" panose="02020603050405020304" pitchFamily="18" charset="0"/>
              </a:rPr>
              <a:t>, S., Laird, J.R., Pareek, G.J.E.L. and Miner, M., 2020.Brain MRI‐based Wilson disease tissue classification: an optimised deep </a:t>
            </a:r>
            <a:r>
              <a:rPr lang="en-IN" sz="2400" err="1">
                <a:latin typeface="Times New Roman" panose="02020603050405020304" pitchFamily="18" charset="0"/>
                <a:cs typeface="Times New Roman" panose="02020603050405020304" pitchFamily="18" charset="0"/>
              </a:rPr>
              <a:t>transferlearning</a:t>
            </a:r>
            <a:r>
              <a:rPr lang="en-IN" sz="2400">
                <a:latin typeface="Times New Roman" panose="02020603050405020304" pitchFamily="18" charset="0"/>
                <a:cs typeface="Times New Roman" panose="02020603050405020304" pitchFamily="18" charset="0"/>
              </a:rPr>
              <a:t> approach. Electronics Letters, 56(25), pp.1395-1398</a:t>
            </a:r>
            <a:r>
              <a:rPr lang="en-IN" sz="2400"/>
              <a:t>.</a:t>
            </a:r>
          </a:p>
          <a:p>
            <a:pPr algn="just">
              <a:buFont typeface="Wingdings" panose="05000000000000000000" pitchFamily="2" charset="2"/>
              <a:buChar char="Ø"/>
            </a:pPr>
            <a:r>
              <a:rPr lang="en-IN" sz="2400" err="1">
                <a:latin typeface="Times New Roman"/>
                <a:cs typeface="Times New Roman"/>
              </a:rPr>
              <a:t>seniow</a:t>
            </a:r>
            <a:r>
              <a:rPr lang="en-IN" sz="2400">
                <a:latin typeface="Times New Roman"/>
                <a:cs typeface="Times New Roman"/>
              </a:rPr>
              <a:t>, H.M., Amin, M., Syed, J., Sarfraz, Z., Sarfraz, A., Sarfraz, M., Farfan Bajana, M.J., Felix, M. and Cherrez‐Ojeda, I., 2022. Biochemical testing for the diagnosis of Wilson&amp;#39;s disease: A systematic review. Journal of Clinical Laboratory Analysis, 36(2), p.e24191.</a:t>
            </a:r>
          </a:p>
          <a:p>
            <a:pPr algn="just">
              <a:buFont typeface="Wingdings" panose="05000000000000000000" pitchFamily="2" charset="2"/>
              <a:buChar char="Ø"/>
            </a:pPr>
            <a:r>
              <a:rPr lang="en-IN" sz="2400" err="1">
                <a:latin typeface="Times New Roman" panose="02020603050405020304" pitchFamily="18" charset="0"/>
                <a:cs typeface="Times New Roman" panose="02020603050405020304" pitchFamily="18" charset="0"/>
              </a:rPr>
              <a:t>Reszia</a:t>
            </a:r>
            <a:r>
              <a:rPr lang="en-IN" sz="2400">
                <a:latin typeface="Times New Roman" panose="02020603050405020304" pitchFamily="18" charset="0"/>
                <a:cs typeface="Times New Roman" panose="02020603050405020304" pitchFamily="18" charset="0"/>
              </a:rPr>
              <a:t>-Ogrodnik, S., Chang, J., Yang, C., Rao, R., Wu, T., Wang, J., Sun, D., Xia, </a:t>
            </a:r>
            <a:r>
              <a:rPr lang="en-IN" sz="2400" err="1">
                <a:latin typeface="Times New Roman" panose="02020603050405020304" pitchFamily="18" charset="0"/>
                <a:cs typeface="Times New Roman" panose="02020603050405020304" pitchFamily="18" charset="0"/>
              </a:rPr>
              <a:t>K.,Wang</a:t>
            </a:r>
            <a:r>
              <a:rPr lang="en-IN" sz="2400">
                <a:latin typeface="Times New Roman" panose="02020603050405020304" pitchFamily="18" charset="0"/>
                <a:cs typeface="Times New Roman" panose="02020603050405020304" pitchFamily="18" charset="0"/>
              </a:rPr>
              <a:t>, X., Han, Y. and Han, Y., 2025. Explainable machine learning model predicting neurological deterioration in Wilson&amp;#39;s disease via MRI radiomics and clinical features. Parkinsonism &amp;amp; Related Disorders, p.107908.</a:t>
            </a:r>
          </a:p>
          <a:p>
            <a:pPr marL="285750" indent="-285750" algn="just">
              <a:lnSpc>
                <a:spcPct val="100000"/>
              </a:lnSpc>
              <a:spcBef>
                <a:spcPts val="0"/>
              </a:spcBef>
              <a:buFont typeface="Wingdings,Sans-Serif" panose="05000000000000000000" pitchFamily="2" charset="2"/>
              <a:buChar char="Ø"/>
            </a:pPr>
            <a:r>
              <a:rPr lang="en-IN" sz="2400">
                <a:latin typeface="Times New Roman"/>
                <a:cs typeface="Times New Roman"/>
              </a:rPr>
              <a:t>Benzine, H., </a:t>
            </a:r>
            <a:r>
              <a:rPr lang="en-IN" sz="2400" err="1">
                <a:latin typeface="Times New Roman"/>
                <a:cs typeface="Times New Roman"/>
              </a:rPr>
              <a:t>Lhousni</a:t>
            </a:r>
            <a:r>
              <a:rPr lang="en-IN" sz="2400">
                <a:latin typeface="Times New Roman"/>
                <a:cs typeface="Times New Roman"/>
              </a:rPr>
              <a:t>, S., </a:t>
            </a:r>
            <a:r>
              <a:rPr lang="en-IN" sz="2400" err="1">
                <a:latin typeface="Times New Roman"/>
                <a:cs typeface="Times New Roman"/>
              </a:rPr>
              <a:t>Rkain</a:t>
            </a:r>
            <a:r>
              <a:rPr lang="en-IN" sz="2400">
                <a:latin typeface="Times New Roman"/>
                <a:cs typeface="Times New Roman"/>
              </a:rPr>
              <a:t>, M., </a:t>
            </a:r>
            <a:r>
              <a:rPr lang="en-IN" sz="2400" err="1">
                <a:latin typeface="Times New Roman"/>
                <a:cs typeface="Times New Roman"/>
              </a:rPr>
              <a:t>Ouarzane</a:t>
            </a:r>
            <a:r>
              <a:rPr lang="en-IN" sz="2400">
                <a:latin typeface="Times New Roman"/>
                <a:cs typeface="Times New Roman"/>
              </a:rPr>
              <a:t>, M., Boulouiz, R., </a:t>
            </a:r>
            <a:r>
              <a:rPr lang="en-IN" sz="2400" err="1">
                <a:latin typeface="Times New Roman"/>
                <a:cs typeface="Times New Roman"/>
              </a:rPr>
              <a:t>Bellaoui</a:t>
            </a:r>
            <a:r>
              <a:rPr lang="en-IN" sz="2400">
                <a:latin typeface="Times New Roman"/>
                <a:cs typeface="Times New Roman"/>
              </a:rPr>
              <a:t>, M. </a:t>
            </a:r>
            <a:r>
              <a:rPr lang="en-IN" sz="2400" err="1">
                <a:latin typeface="Times New Roman"/>
                <a:cs typeface="Times New Roman"/>
              </a:rPr>
              <a:t>andCharif</a:t>
            </a:r>
            <a:r>
              <a:rPr lang="en-IN" sz="2400">
                <a:latin typeface="Times New Roman"/>
                <a:cs typeface="Times New Roman"/>
              </a:rPr>
              <a:t>, M., 2025. Clinical and Molecular Spectrum of Wilson Disease in the </a:t>
            </a:r>
            <a:r>
              <a:rPr lang="en-IN" sz="2400" err="1">
                <a:latin typeface="Times New Roman"/>
                <a:cs typeface="Times New Roman"/>
              </a:rPr>
              <a:t>ArabWorld</a:t>
            </a:r>
            <a:r>
              <a:rPr lang="en-IN" sz="2400">
                <a:latin typeface="Times New Roman"/>
                <a:cs typeface="Times New Roman"/>
              </a:rPr>
              <a:t>: A Systematic Review. Biochemical Genetics, 63(2), pp.1198-1218.</a:t>
            </a:r>
          </a:p>
          <a:p>
            <a:pPr marL="285750" indent="-285750" algn="just">
              <a:lnSpc>
                <a:spcPct val="100000"/>
              </a:lnSpc>
              <a:spcBef>
                <a:spcPts val="0"/>
              </a:spcBef>
              <a:buFont typeface="Wingdings,Sans-Serif" panose="05000000000000000000" pitchFamily="2" charset="2"/>
              <a:buChar char="Ø"/>
            </a:pPr>
            <a:r>
              <a:rPr lang="en-IN" sz="2400">
                <a:latin typeface="Times New Roman"/>
                <a:cs typeface="Times New Roman"/>
              </a:rPr>
              <a:t>Patwa, J. and Flora, S.J.S., 2024. Copper: From enigma to therapeutic target </a:t>
            </a:r>
            <a:r>
              <a:rPr lang="en-IN" sz="2400" err="1">
                <a:latin typeface="Times New Roman"/>
                <a:cs typeface="Times New Roman"/>
              </a:rPr>
              <a:t>forneurological</a:t>
            </a:r>
            <a:r>
              <a:rPr lang="en-IN" sz="2400">
                <a:latin typeface="Times New Roman"/>
                <a:cs typeface="Times New Roman"/>
              </a:rPr>
              <a:t> disorder. Basic &amp;amp; Clinical Pharmacology &amp;amp; Toxicology, 134(6),pp.778-791.</a:t>
            </a:r>
          </a:p>
          <a:p>
            <a:endParaRPr lang="en-IN"/>
          </a:p>
        </p:txBody>
      </p:sp>
    </p:spTree>
    <p:extLst>
      <p:ext uri="{BB962C8B-B14F-4D97-AF65-F5344CB8AC3E}">
        <p14:creationId xmlns:p14="http://schemas.microsoft.com/office/powerpoint/2010/main" val="40529239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C253FB-53AD-6CEF-BAE6-80F8C6EAB51A}"/>
              </a:ext>
            </a:extLst>
          </p:cNvPr>
          <p:cNvSpPr>
            <a:spLocks noGrp="1"/>
          </p:cNvSpPr>
          <p:nvPr>
            <p:ph idx="1"/>
          </p:nvPr>
        </p:nvSpPr>
        <p:spPr>
          <a:xfrm>
            <a:off x="838200" y="733647"/>
            <a:ext cx="10515600" cy="5443316"/>
          </a:xfrm>
        </p:spPr>
        <p:txBody>
          <a:bodyPr>
            <a:normAutofit/>
          </a:bodyPr>
          <a:lstStyle/>
          <a:p>
            <a:pPr algn="just">
              <a:buFont typeface="Wingdings" panose="05000000000000000000" pitchFamily="2" charset="2"/>
              <a:buChar char="Ø"/>
            </a:pPr>
            <a:r>
              <a:rPr lang="en-IN" sz="2000">
                <a:latin typeface="Times New Roman"/>
                <a:cs typeface="Times New Roman"/>
              </a:rPr>
              <a:t>Salman, H.M., Amin, M., Syed, J., Sarfraz, Z., Sarfraz, A., Sarfraz, M., Farfan Bajana, M.J., Felix, M. and Cherrez‐Ojeda, I., 2022. Biochemical testing for the diagnosis of Wilson&amp;#39;s disease: A systematic review. Journal of Clinical Laboratory Analysis, 36(2), p.e24191.</a:t>
            </a:r>
          </a:p>
          <a:p>
            <a:pPr algn="just">
              <a:buFont typeface="Wingdings" panose="05000000000000000000" pitchFamily="2" charset="2"/>
              <a:buChar char="Ø"/>
            </a:pPr>
            <a:r>
              <a:rPr lang="en-IN" sz="2000">
                <a:latin typeface="Times New Roman" panose="02020603050405020304" pitchFamily="18" charset="0"/>
                <a:cs typeface="Times New Roman" panose="02020603050405020304" pitchFamily="18" charset="0"/>
              </a:rPr>
              <a:t>Wang, S., Chang, J., Yang, C., Rao, R., Wu, T., Wang, J., Sun, D., Xia, </a:t>
            </a:r>
            <a:r>
              <a:rPr lang="en-IN" sz="2000" err="1">
                <a:latin typeface="Times New Roman" panose="02020603050405020304" pitchFamily="18" charset="0"/>
                <a:cs typeface="Times New Roman" panose="02020603050405020304" pitchFamily="18" charset="0"/>
              </a:rPr>
              <a:t>K.,Wang</a:t>
            </a:r>
            <a:r>
              <a:rPr lang="en-IN" sz="2000">
                <a:latin typeface="Times New Roman" panose="02020603050405020304" pitchFamily="18" charset="0"/>
                <a:cs typeface="Times New Roman" panose="02020603050405020304" pitchFamily="18" charset="0"/>
              </a:rPr>
              <a:t>, X., Han, Y. and Han, Y., 2025. Explainable machine learning model predicting neurological deterioration in Wilson&amp;#39;s disease via MRI radiomics and clinical features. Parkinsonism &amp;amp; Related Disorders, p.107908.</a:t>
            </a:r>
          </a:p>
          <a:p>
            <a:pPr marL="285750" indent="-285750" algn="just">
              <a:lnSpc>
                <a:spcPct val="100000"/>
              </a:lnSpc>
              <a:spcBef>
                <a:spcPts val="0"/>
              </a:spcBef>
              <a:buFont typeface="Wingdings,Sans-Serif" panose="05000000000000000000" pitchFamily="2" charset="2"/>
              <a:buChar char="Ø"/>
            </a:pPr>
            <a:r>
              <a:rPr lang="en-IN" sz="2000">
                <a:latin typeface="Times New Roman"/>
                <a:cs typeface="Times New Roman"/>
              </a:rPr>
              <a:t>Benzine, H., </a:t>
            </a:r>
            <a:r>
              <a:rPr lang="en-IN" sz="2000" err="1">
                <a:latin typeface="Times New Roman"/>
                <a:cs typeface="Times New Roman"/>
              </a:rPr>
              <a:t>Lhousni</a:t>
            </a:r>
            <a:r>
              <a:rPr lang="en-IN" sz="2000">
                <a:latin typeface="Times New Roman"/>
                <a:cs typeface="Times New Roman"/>
              </a:rPr>
              <a:t>, S., </a:t>
            </a:r>
            <a:r>
              <a:rPr lang="en-IN" sz="2000" err="1">
                <a:latin typeface="Times New Roman"/>
                <a:cs typeface="Times New Roman"/>
              </a:rPr>
              <a:t>Rkain</a:t>
            </a:r>
            <a:r>
              <a:rPr lang="en-IN" sz="2000">
                <a:latin typeface="Times New Roman"/>
                <a:cs typeface="Times New Roman"/>
              </a:rPr>
              <a:t>, M., </a:t>
            </a:r>
            <a:r>
              <a:rPr lang="en-IN" sz="2000" err="1">
                <a:latin typeface="Times New Roman"/>
                <a:cs typeface="Times New Roman"/>
              </a:rPr>
              <a:t>Ouarzane</a:t>
            </a:r>
            <a:r>
              <a:rPr lang="en-IN" sz="2000">
                <a:latin typeface="Times New Roman"/>
                <a:cs typeface="Times New Roman"/>
              </a:rPr>
              <a:t>, M., Boulouiz, R., </a:t>
            </a:r>
            <a:r>
              <a:rPr lang="en-IN" sz="2000" err="1">
                <a:latin typeface="Times New Roman"/>
                <a:cs typeface="Times New Roman"/>
              </a:rPr>
              <a:t>Bellaoui</a:t>
            </a:r>
            <a:r>
              <a:rPr lang="en-IN" sz="2000">
                <a:latin typeface="Times New Roman"/>
                <a:cs typeface="Times New Roman"/>
              </a:rPr>
              <a:t>, M. </a:t>
            </a:r>
            <a:r>
              <a:rPr lang="en-IN" sz="2000" err="1">
                <a:latin typeface="Times New Roman"/>
                <a:cs typeface="Times New Roman"/>
              </a:rPr>
              <a:t>andCharif</a:t>
            </a:r>
            <a:r>
              <a:rPr lang="en-IN" sz="2000">
                <a:latin typeface="Times New Roman"/>
                <a:cs typeface="Times New Roman"/>
              </a:rPr>
              <a:t>, M., 2025. Clinical and Molecular Spectrum of Wilson Disease in the </a:t>
            </a:r>
            <a:r>
              <a:rPr lang="en-IN" sz="2000" err="1">
                <a:latin typeface="Times New Roman"/>
                <a:cs typeface="Times New Roman"/>
              </a:rPr>
              <a:t>ArabWorld</a:t>
            </a:r>
            <a:r>
              <a:rPr lang="en-IN" sz="2000">
                <a:latin typeface="Times New Roman"/>
                <a:cs typeface="Times New Roman"/>
              </a:rPr>
              <a:t>: A Systematic Review. Biochemical Genetics, 63(2), pp.1198-1218.</a:t>
            </a:r>
          </a:p>
          <a:p>
            <a:pPr marL="285750" indent="-285750" algn="just">
              <a:lnSpc>
                <a:spcPct val="100000"/>
              </a:lnSpc>
              <a:spcBef>
                <a:spcPts val="0"/>
              </a:spcBef>
              <a:buFont typeface="Wingdings,Sans-Serif" panose="05000000000000000000" pitchFamily="2" charset="2"/>
              <a:buChar char="Ø"/>
            </a:pPr>
            <a:r>
              <a:rPr lang="en-IN" sz="2000">
                <a:latin typeface="Times New Roman"/>
                <a:cs typeface="Times New Roman"/>
              </a:rPr>
              <a:t>Patwa, J. and Flora, S.J.S., 2024. Copper: From enigma to therapeutic target </a:t>
            </a:r>
            <a:r>
              <a:rPr lang="en-IN" sz="2000" err="1">
                <a:latin typeface="Times New Roman"/>
                <a:cs typeface="Times New Roman"/>
              </a:rPr>
              <a:t>forneurological</a:t>
            </a:r>
            <a:r>
              <a:rPr lang="en-IN" sz="2000">
                <a:latin typeface="Times New Roman"/>
                <a:cs typeface="Times New Roman"/>
              </a:rPr>
              <a:t> disorder. Basic &amp;amp; Clinical Pharmacology &amp;amp; Toxicology, 134(6),pp.778-791.</a:t>
            </a:r>
          </a:p>
          <a:p>
            <a:endParaRPr lang="en-IN"/>
          </a:p>
        </p:txBody>
      </p:sp>
    </p:spTree>
    <p:extLst>
      <p:ext uri="{BB962C8B-B14F-4D97-AF65-F5344CB8AC3E}">
        <p14:creationId xmlns:p14="http://schemas.microsoft.com/office/powerpoint/2010/main" val="32870082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AE35C-C39B-3CFB-75AD-CEECDC999A1B}"/>
              </a:ext>
            </a:extLst>
          </p:cNvPr>
          <p:cNvSpPr>
            <a:spLocks noGrp="1"/>
          </p:cNvSpPr>
          <p:nvPr>
            <p:ph type="title"/>
          </p:nvPr>
        </p:nvSpPr>
        <p:spPr>
          <a:xfrm>
            <a:off x="838200" y="365126"/>
            <a:ext cx="10515600" cy="868252"/>
          </a:xfrm>
        </p:spPr>
        <p:txBody>
          <a:bodyPr>
            <a:normAutofit/>
          </a:bodyPr>
          <a:lstStyle/>
          <a:p>
            <a:r>
              <a:rPr lang="en-US" sz="2400">
                <a:solidFill>
                  <a:schemeClr val="accent1">
                    <a:lumMod val="75000"/>
                  </a:schemeClr>
                </a:solidFill>
                <a:latin typeface="Times New Roman" panose="02020603050405020304" pitchFamily="18" charset="0"/>
                <a:cs typeface="Times New Roman" panose="02020603050405020304" pitchFamily="18" charset="0"/>
              </a:rPr>
              <a:t>Paper Publication</a:t>
            </a:r>
            <a:endParaRPr lang="en-IN" sz="2400">
              <a:solidFill>
                <a:schemeClr val="accent1">
                  <a:lumMod val="75000"/>
                </a:schemeClr>
              </a:solidFill>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5D3A2BC5-869F-A73A-84C6-EB9F416E297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20762" y="1477963"/>
            <a:ext cx="8950476" cy="4699000"/>
          </a:xfrm>
          <a:prstGeom prst="rect">
            <a:avLst/>
          </a:prstGeom>
        </p:spPr>
      </p:pic>
    </p:spTree>
    <p:extLst>
      <p:ext uri="{BB962C8B-B14F-4D97-AF65-F5344CB8AC3E}">
        <p14:creationId xmlns:p14="http://schemas.microsoft.com/office/powerpoint/2010/main" val="7681799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FA6F24-42E3-F795-7746-56253F1336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2260" y="435935"/>
            <a:ext cx="11036596" cy="5688418"/>
          </a:xfrm>
          <a:prstGeom prst="rect">
            <a:avLst/>
          </a:prstGeom>
        </p:spPr>
      </p:pic>
    </p:spTree>
    <p:extLst>
      <p:ext uri="{BB962C8B-B14F-4D97-AF65-F5344CB8AC3E}">
        <p14:creationId xmlns:p14="http://schemas.microsoft.com/office/powerpoint/2010/main" val="4706555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440FEAE-CB24-FD88-76EB-506AB526E6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5152" y="850605"/>
            <a:ext cx="10451805" cy="5263116"/>
          </a:xfrm>
          <a:prstGeom prst="rect">
            <a:avLst/>
          </a:prstGeom>
        </p:spPr>
      </p:pic>
    </p:spTree>
    <p:extLst>
      <p:ext uri="{BB962C8B-B14F-4D97-AF65-F5344CB8AC3E}">
        <p14:creationId xmlns:p14="http://schemas.microsoft.com/office/powerpoint/2010/main" val="36536258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36901" y="2729595"/>
            <a:ext cx="11176000" cy="830997"/>
          </a:xfrm>
          <a:prstGeom prst="rect">
            <a:avLst/>
          </a:prstGeom>
        </p:spPr>
        <p:txBody>
          <a:bodyPr wrap="square" lIns="91440" tIns="45720" rIns="91440" bIns="45720" anchor="t">
            <a:spAutoFit/>
          </a:bodyPr>
          <a:lstStyle/>
          <a:p>
            <a:r>
              <a:rPr lang="en-IN" sz="2400">
                <a:latin typeface="Times New Roman"/>
                <a:ea typeface="Calibri" panose="020F0502020204030204"/>
                <a:cs typeface="Times New Roman"/>
              </a:rPr>
              <a:t>                                     </a:t>
            </a:r>
            <a:r>
              <a:rPr lang="en-IN" sz="4800" b="1">
                <a:solidFill>
                  <a:srgbClr val="2E75B6"/>
                </a:solidFill>
                <a:latin typeface="Times New Roman"/>
                <a:ea typeface="Calibri" panose="020F0502020204030204"/>
                <a:cs typeface="Times New Roman"/>
              </a:rPr>
              <a:t>THANK YOU</a:t>
            </a:r>
          </a:p>
        </p:txBody>
      </p:sp>
    </p:spTree>
    <p:extLst>
      <p:ext uri="{BB962C8B-B14F-4D97-AF65-F5344CB8AC3E}">
        <p14:creationId xmlns:p14="http://schemas.microsoft.com/office/powerpoint/2010/main" val="40917012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27</Slides>
  <Notes>0</Notes>
  <HiddenSlides>0</HiddenSlide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Office Theme</vt:lpstr>
      <vt:lpstr>A Novel AttenTabTCN-Fuse Model for Predicting Neurological Deterioration in Wilson’s Disease Using HashRFE Feature Selection and XAIShEx Explainability</vt:lpstr>
      <vt:lpstr>Contents</vt:lpstr>
      <vt:lpstr>Abstract </vt:lpstr>
      <vt:lpstr>PowerPoint Presentation</vt:lpstr>
      <vt:lpstr>Introduction </vt:lpstr>
      <vt:lpstr>PowerPoint Presentation</vt:lpstr>
      <vt:lpstr>Literature Review</vt:lpstr>
      <vt:lpstr>PowerPoint Presentation</vt:lpstr>
      <vt:lpstr>Existing Problem</vt:lpstr>
      <vt:lpstr>Proposed Methodology </vt:lpstr>
      <vt:lpstr>PowerPoint Presentation</vt:lpstr>
      <vt:lpstr>Research Objectives </vt:lpstr>
      <vt:lpstr>PowerPoint Presentation</vt:lpstr>
      <vt:lpstr>PowerPoint Presentation</vt:lpstr>
      <vt:lpstr>PowerPoint Presentation</vt:lpstr>
      <vt:lpstr>Results &amp;Discussions</vt:lpstr>
      <vt:lpstr>PowerPoint Presentation</vt:lpstr>
      <vt:lpstr>PowerPoint Presentation</vt:lpstr>
      <vt:lpstr>PowerPoint Presentation</vt:lpstr>
      <vt:lpstr>Conculsion</vt:lpstr>
      <vt:lpstr>References </vt:lpstr>
      <vt:lpstr>PowerPoint Presentation</vt:lpstr>
      <vt:lpstr>PowerPoint Presentation</vt:lpstr>
      <vt:lpstr>Paper Publication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Novel AttenTabTCN-Fuse Model for Predicting Neurological Deterioration in Wilson’s Disease Using HashRFE Feature Selection and XAIShEx Explainability</dc:title>
  <dc:creator>Dell</dc:creator>
  <cp:revision>1</cp:revision>
  <dcterms:created xsi:type="dcterms:W3CDTF">2026-01-29T05:07:28Z</dcterms:created>
  <dcterms:modified xsi:type="dcterms:W3CDTF">2026-04-24T18:12:57Z</dcterms:modified>
</cp:coreProperties>
</file>